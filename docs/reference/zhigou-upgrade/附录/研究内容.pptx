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DFF_883B372D.xml" ContentType="application/vnd.ms-powerpoint.comments+xml"/>
  <Override PartName="/ppt/notesSlides/notesSlide3.xml" ContentType="application/vnd.openxmlformats-officedocument.presentationml.notesSlide+xml"/>
  <Override PartName="/ppt/comments/modernComment_DC9_0.xml" ContentType="application/vnd.ms-powerpoint.comments+xml"/>
  <Override PartName="/ppt/notesSlides/notesSlide4.xml" ContentType="application/vnd.openxmlformats-officedocument.presentationml.notesSlide+xml"/>
  <Override PartName="/ppt/comments/modernComment_DCA_0.xml" ContentType="application/vnd.ms-powerpoint.comments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528" r:id="rId2"/>
    <p:sldId id="3583" r:id="rId3"/>
    <p:sldId id="3529" r:id="rId4"/>
    <p:sldId id="3530" r:id="rId5"/>
    <p:sldId id="353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F46115-E6E9-4247-78F5-7B3CC3811127}" name="YUAN, Weiwen" initials="YW" userId="S::1155178515@link.cuhk.edu.hk::dbaf267e-671f-47ef-9c37-8b65d25fc937" providerId="AD"/>
  <p188:author id="{DAACAC98-FF03-EB5C-7830-B58FF4DCF551}" name="Jinke Ren" initials="Jinke Ren" userId="Jinke Ren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omments/modernComment_DC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94F4DC2-E60C-9B45-AF72-37289B9EECCB}" authorId="{DAACAC98-FF03-EB5C-7830-B58FF4DCF551}" created="2026-08-24T11:16:20.50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529"/>
      <ac:spMk id="121" creationId="{ECED744C-FAB2-FC12-EA69-DE5914B37C79}"/>
      <ac:txMk cp="46" len="74">
        <ac:context len="285" hash="712852119"/>
      </ac:txMk>
    </ac:txMkLst>
    <p188:pos x="5773301" y="473470"/>
    <p188:txBody>
      <a:bodyPr/>
      <a:lstStyle/>
      <a:p>
        <a:r>
          <a:rPr lang="zh-CN" altLang="en-US"/>
          <a:t>补充数据接入的方式</a:t>
        </a:r>
      </a:p>
    </p188:txBody>
  </p188:cm>
</p188:cmLst>
</file>

<file path=ppt/comments/modernComment_DC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1564F15-5AA7-1F43-B1F2-C123D43C8013}" authorId="{DAACAC98-FF03-EB5C-7830-B58FF4DCF551}" created="2026-08-24T11:14:36.58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530"/>
      <ac:spMk id="55" creationId="{49B80DCF-757C-CA73-736E-F0BFDB3A9FB2}"/>
      <ac:txMk cp="139" len="78">
        <ac:context len="218" hash="392805579"/>
      </ac:txMk>
    </ac:txMkLst>
    <p188:pos x="5772386" y="2148600"/>
    <p188:replyLst>
      <p188:reply id="{5F3A83A9-EB58-4770-93A4-A28B9950E8F0}" authorId="{00F46115-E6E9-4247-78F5-7B3CC3811127}" created="2026-08-24T21:59:15.201">
        <p188:txBody>
          <a:bodyPr/>
          <a:lstStyle/>
          <a:p>
            <a:r>
              <a:rPr lang="zh-CN" altLang="en-US"/>
              <a:t>对象语义：具体的企业、项目、设备、事件等实例；
关系语义：对象的具体属性值及对象之间的关联；
约束规则：类型、范围、单位、编码和逻辑规则；
可调用服务：对象读取服务、查询服务和动作服务。</a:t>
            </a:r>
          </a:p>
        </p188:txBody>
      </p188:reply>
    </p188:replyLst>
    <p188:txBody>
      <a:bodyPr/>
      <a:lstStyle/>
      <a:p>
        <a:r>
          <a:rPr lang="zh-CN" altLang="en-US"/>
          <a:t>本体库中有什么？</a:t>
        </a:r>
      </a:p>
    </p188:txBody>
  </p188:cm>
</p188:cmLst>
</file>

<file path=ppt/comments/modernComment_DFF_883B372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51F83DA-4D39-0646-84C9-97A95623160C}" authorId="{DAACAC98-FF03-EB5C-7830-B58FF4DCF551}" created="2026-08-24T11:34:13.10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85582125" sldId="3583"/>
      <ac:graphicFrameMk id="2" creationId="{659074A7-D214-390D-61B0-154991AC0DBC}"/>
      <ac:tblMk/>
      <ac:tcMk rowId="3646847253" colId="101831346"/>
      <ac:txMk cp="0" len="16">
        <ac:context len="17" hash="1025134408"/>
      </ac:txMk>
    </ac:txMkLst>
    <p188:pos x="10066703" y="2230487"/>
    <p188:txBody>
      <a:bodyPr/>
      <a:lstStyle/>
      <a:p>
        <a:r>
          <a:rPr lang="zh-CN" altLang="en-US"/>
          <a:t>放到原型系统里面去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EBCA5-5F11-492E-B40C-E0E01D9770EB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669638-FFFF-43A7-9E00-B10CBECAFA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697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幻灯片图像占位符 1"/>
          <p:cNvSpPr>
            <a:spLocks noGrp="1" noRot="1" noChangeAspect="1"/>
          </p:cNvSpPr>
          <p:nvPr>
            <p:ph type="sldImg" idx="4294967295"/>
          </p:nvPr>
        </p:nvSpPr>
        <p:spPr bwMode="auto">
          <a:xfrm>
            <a:off x="5735638" y="588963"/>
            <a:ext cx="2828925" cy="1592262"/>
          </a:xfrm>
          <a:noFill/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8703" name="备注占位符 2"/>
          <p:cNvSpPr>
            <a:spLocks noGrp="1"/>
          </p:cNvSpPr>
          <p:nvPr>
            <p:ph type="body" idx="4294967295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048704" name="灯片编号占位符 3"/>
          <p:cNvSpPr>
            <a:spLocks noGrp="1"/>
          </p:cNvSpPr>
          <p:nvPr>
            <p:ph type="sldNum" sz="quarter" idx="5"/>
          </p:nvPr>
        </p:nvSpPr>
        <p:spPr bwMode="auto">
          <a:xfrm>
            <a:off x="5499687" y="6528367"/>
            <a:ext cx="4209779" cy="345335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38505" indent="-28448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36650" indent="-22733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592580" indent="-22733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46605" indent="-22733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02535" indent="-227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56560" indent="-227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11220" indent="-227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66515" indent="-227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9816D29-952E-4024-A0EF-5E635B2834FC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幻灯片图像占位符 1"/>
          <p:cNvSpPr>
            <a:spLocks noGrp="1" noRot="1" noChangeAspect="1"/>
          </p:cNvSpPr>
          <p:nvPr>
            <p:ph type="sldImg" idx="4294967295"/>
          </p:nvPr>
        </p:nvSpPr>
        <p:spPr bwMode="auto">
          <a:xfrm>
            <a:off x="5735638" y="588963"/>
            <a:ext cx="2828925" cy="1592262"/>
          </a:xfrm>
          <a:noFill/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8703" name="备注占位符 2"/>
          <p:cNvSpPr>
            <a:spLocks noGrp="1"/>
          </p:cNvSpPr>
          <p:nvPr>
            <p:ph type="body" idx="4294967295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048704" name="灯片编号占位符 3"/>
          <p:cNvSpPr>
            <a:spLocks noGrp="1"/>
          </p:cNvSpPr>
          <p:nvPr>
            <p:ph type="sldNum" sz="quarter" idx="5"/>
          </p:nvPr>
        </p:nvSpPr>
        <p:spPr bwMode="auto">
          <a:xfrm>
            <a:off x="5499687" y="6528367"/>
            <a:ext cx="4209779" cy="345335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38505" indent="-28448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36650" indent="-22733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592580" indent="-22733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46605" indent="-22733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02535" indent="-227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56560" indent="-227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11220" indent="-227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66515" indent="-227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9816D29-952E-4024-A0EF-5E635B2834FC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1106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幻灯片图像占位符 1"/>
          <p:cNvSpPr>
            <a:spLocks noGrp="1" noRot="1" noChangeAspect="1"/>
          </p:cNvSpPr>
          <p:nvPr>
            <p:ph type="sldImg" idx="4294967295"/>
          </p:nvPr>
        </p:nvSpPr>
        <p:spPr bwMode="auto">
          <a:xfrm>
            <a:off x="5735638" y="588963"/>
            <a:ext cx="2828925" cy="1592262"/>
          </a:xfrm>
          <a:noFill/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8703" name="备注占位符 2"/>
          <p:cNvSpPr>
            <a:spLocks noGrp="1"/>
          </p:cNvSpPr>
          <p:nvPr>
            <p:ph type="body" idx="4294967295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048704" name="灯片编号占位符 3"/>
          <p:cNvSpPr>
            <a:spLocks noGrp="1"/>
          </p:cNvSpPr>
          <p:nvPr>
            <p:ph type="sldNum" sz="quarter" idx="5"/>
          </p:nvPr>
        </p:nvSpPr>
        <p:spPr bwMode="auto">
          <a:xfrm>
            <a:off x="5499687" y="6528367"/>
            <a:ext cx="4209779" cy="345335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38505" indent="-28448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36650" indent="-22733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592580" indent="-22733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46605" indent="-22733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02535" indent="-227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56560" indent="-227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11220" indent="-227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66515" indent="-227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9816D29-952E-4024-A0EF-5E635B2834FC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幻灯片图像占位符 1"/>
          <p:cNvSpPr>
            <a:spLocks noGrp="1" noRot="1" noChangeAspect="1"/>
          </p:cNvSpPr>
          <p:nvPr>
            <p:ph type="sldImg" idx="4294967295"/>
          </p:nvPr>
        </p:nvSpPr>
        <p:spPr bwMode="auto">
          <a:xfrm>
            <a:off x="5735638" y="588963"/>
            <a:ext cx="2828925" cy="1592262"/>
          </a:xfrm>
          <a:noFill/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8703" name="备注占位符 2"/>
          <p:cNvSpPr>
            <a:spLocks noGrp="1"/>
          </p:cNvSpPr>
          <p:nvPr>
            <p:ph type="body" idx="4294967295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048704" name="灯片编号占位符 3"/>
          <p:cNvSpPr>
            <a:spLocks noGrp="1"/>
          </p:cNvSpPr>
          <p:nvPr>
            <p:ph type="sldNum" sz="quarter" idx="5"/>
          </p:nvPr>
        </p:nvSpPr>
        <p:spPr bwMode="auto">
          <a:xfrm>
            <a:off x="5499687" y="6528367"/>
            <a:ext cx="4209779" cy="345335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38505" indent="-28448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36650" indent="-22733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592580" indent="-22733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46605" indent="-22733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02535" indent="-227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56560" indent="-227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11220" indent="-227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66515" indent="-227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9816D29-952E-4024-A0EF-5E635B2834FC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幻灯片图像占位符 1"/>
          <p:cNvSpPr>
            <a:spLocks noGrp="1" noRot="1" noChangeAspect="1"/>
          </p:cNvSpPr>
          <p:nvPr>
            <p:ph type="sldImg" idx="4294967295"/>
          </p:nvPr>
        </p:nvSpPr>
        <p:spPr bwMode="auto">
          <a:xfrm>
            <a:off x="5735638" y="588963"/>
            <a:ext cx="2828925" cy="1592262"/>
          </a:xfrm>
          <a:noFill/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8703" name="备注占位符 2"/>
          <p:cNvSpPr>
            <a:spLocks noGrp="1"/>
          </p:cNvSpPr>
          <p:nvPr>
            <p:ph type="body" idx="4294967295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048704" name="灯片编号占位符 3"/>
          <p:cNvSpPr>
            <a:spLocks noGrp="1"/>
          </p:cNvSpPr>
          <p:nvPr>
            <p:ph type="sldNum" sz="quarter" idx="5"/>
          </p:nvPr>
        </p:nvSpPr>
        <p:spPr bwMode="auto">
          <a:xfrm>
            <a:off x="5499687" y="6528367"/>
            <a:ext cx="4209779" cy="345335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38505" indent="-28448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36650" indent="-22733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592580" indent="-22733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46605" indent="-22733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02535" indent="-227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56560" indent="-227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11220" indent="-227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66515" indent="-227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9816D29-952E-4024-A0EF-5E635B2834FC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97511B-4F09-0B3E-0F87-511E305A9D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CA86B9-00D2-DE8D-42EB-A1192ABAC8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41976B-3273-F3DC-0164-93B300E2B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066E7-F0E1-42CC-9B7C-5F1E0156612B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5030F3-A038-AD91-B196-E0B31EB4F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C55BFE-035B-BF47-F4B6-13E5912E2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7863A-E096-4A47-887E-517F1BB1A8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811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3D1E7D-B404-C084-84AB-06C7433B2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1A0752-D925-32DC-22B7-F440F81D6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12E3C1-B688-DA63-C3DA-BF5831A07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066E7-F0E1-42CC-9B7C-5F1E0156612B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A1E6FF-1ABC-900E-D080-0EA9241D4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74A9DA-CB01-4FA6-3617-A2E1B1686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7863A-E096-4A47-887E-517F1BB1A8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4145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3CF8E8-4565-312E-FA3E-FF238F308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2FF0F1-377B-C1B5-F831-555D2FC84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0B5F4D-5503-7F09-F7C9-3F51EF415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066E7-F0E1-42CC-9B7C-5F1E0156612B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523C70-EB6B-5932-7BE5-9BFF10F86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F41379-0059-258C-EA01-90F571050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7863A-E096-4A47-887E-517F1BB1A8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422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CB85B7-5CF7-B1CC-CCD2-8473BDD5E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E29575-B462-7FC6-80CD-AA3D3CF50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4526B0-8868-DEB3-8773-EB41370B1B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D1EC8B-F6E7-7F16-1D97-D7088C048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066E7-F0E1-42CC-9B7C-5F1E0156612B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AB0999-872C-FE03-BA86-229CA2431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69C84C-7D90-C65C-2F62-86B09CB42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7863A-E096-4A47-887E-517F1BB1A8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674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979636-CDF2-82CA-E400-6D2B78A18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E0506C-B024-A11C-688C-D735B84D6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668422-F225-3D49-230F-1799C467B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E6E0A01-FE2F-138F-6ED3-47131164AA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875A3BA-6D6C-5D81-59D7-3AD42D217A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A5C09EA-64B0-C8FC-2641-5A5D8F5DB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066E7-F0E1-42CC-9B7C-5F1E0156612B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C311BC3-7603-5E45-9D3D-491230AD0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3C28C70-E365-24EE-026E-E7C253441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7863A-E096-4A47-887E-517F1BB1A8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595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F07A40-83E9-9E44-0A84-1598FA8CD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32EC034-8FD1-1E82-FE5B-A51023339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066E7-F0E1-42CC-9B7C-5F1E0156612B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7E768B-36F5-0807-BD74-6CD649B6E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FFBFE8F-A92F-4AC9-E971-5F941C4E3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7863A-E096-4A47-887E-517F1BB1A8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7716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20D5ABD-F8BC-0FD5-E073-70A4E90EF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066E7-F0E1-42CC-9B7C-5F1E0156612B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5C88FBE-36AB-9450-7998-DFA89769D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86F3E1-7AC3-72F8-C31B-61FD98BF2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7863A-E096-4A47-887E-517F1BB1A8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762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0376B-61A2-0D87-4539-58F7CA8AA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42834F-3087-E5E6-4A41-E51E919BB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A7F7CB-EBB0-D700-7336-87C264982E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3C6D40-F842-FFFB-A9B9-D16E50C6F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066E7-F0E1-42CC-9B7C-5F1E0156612B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10E220-5D9A-C640-3D94-98F1ADEFC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295EB5-B707-A8CC-36A8-4BC180601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7863A-E096-4A47-887E-517F1BB1A8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53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CBC76B-E4F9-CCCC-B6E1-9912CC51A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C20AD8E-517B-DF77-6ADF-1EBF5A07C3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FF8F55-F8D2-8DC4-C6FF-9619008FE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DA1E0C-16BB-9AB4-FD3F-45892FBA5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066E7-F0E1-42CC-9B7C-5F1E0156612B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41F7B5-6F38-7B4F-1945-C22C03119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E97619-89D5-0480-CAC7-9698CD229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7863A-E096-4A47-887E-517F1BB1A8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4333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357BF-923F-DA06-3341-BB0958BB4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D12D3B7-642A-D9D8-96AA-0A936045B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C2C4F8-2676-006A-E055-4788AC770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066E7-F0E1-42CC-9B7C-5F1E0156612B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0E3A4E-5BBC-E106-4B30-02368F52D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A65D67-0CC7-6CD5-C3D0-0E2E604BA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7863A-E096-4A47-887E-517F1BB1A8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682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F69A183-2C8F-CC2C-E8CA-D3056A799C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E2EA83-0054-4599-4038-41CECDED8E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15B1C2-25CF-570F-C8F5-214F9203E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066E7-F0E1-42CC-9B7C-5F1E0156612B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CD7B1E-2D4D-624A-1489-081D4071F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538FED-FEFC-971C-75A1-CBE02F143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7863A-E096-4A47-887E-517F1BB1A8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0962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rcRect r="32764"/>
          <a:stretch>
            <a:fillRect/>
          </a:stretch>
        </p:blipFill>
        <p:spPr>
          <a:xfrm>
            <a:off x="0" y="0"/>
            <a:ext cx="614807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591820"/>
          </a:xfrm>
          <a:prstGeom prst="rect">
            <a:avLst/>
          </a:prstGeom>
          <a:gradFill flip="none" rotWithShape="1">
            <a:gsLst>
              <a:gs pos="0">
                <a:srgbClr val="8FC31F"/>
              </a:gs>
              <a:gs pos="100000">
                <a:srgbClr val="0085D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 bwMode="auto">
          <a:xfrm>
            <a:off x="10598785" y="89535"/>
            <a:ext cx="1318260" cy="414655"/>
            <a:chOff x="0" y="0"/>
            <a:chExt cx="3833813" cy="1209675"/>
          </a:xfrm>
        </p:grpSpPr>
        <p:grpSp>
          <p:nvGrpSpPr>
            <p:cNvPr id="9" name="组合 8"/>
            <p:cNvGrpSpPr/>
            <p:nvPr userDrawn="1"/>
          </p:nvGrpSpPr>
          <p:grpSpPr bwMode="auto">
            <a:xfrm>
              <a:off x="1474788" y="74612"/>
              <a:ext cx="2359025" cy="1003301"/>
              <a:chOff x="0" y="0"/>
              <a:chExt cx="2359025" cy="1003301"/>
            </a:xfrm>
          </p:grpSpPr>
          <p:sp>
            <p:nvSpPr>
              <p:cNvPr id="17" name="Freeform 5"/>
              <p:cNvSpPr/>
              <p:nvPr userDrawn="1"/>
            </p:nvSpPr>
            <p:spPr bwMode="auto">
              <a:xfrm>
                <a:off x="0" y="7938"/>
                <a:ext cx="481013" cy="555625"/>
              </a:xfrm>
              <a:custGeom>
                <a:avLst/>
                <a:gdLst>
                  <a:gd name="T0" fmla="*/ 0 w 303"/>
                  <a:gd name="T1" fmla="*/ 0 h 350"/>
                  <a:gd name="T2" fmla="*/ 303 w 303"/>
                  <a:gd name="T3" fmla="*/ 350 h 350"/>
                </a:gdLst>
                <a:ahLst/>
                <a:cxnLst>
                  <a:cxn ang="0">
                    <a:pos x="303" y="64"/>
                  </a:cxn>
                  <a:cxn ang="0">
                    <a:pos x="168" y="64"/>
                  </a:cxn>
                  <a:cxn ang="0">
                    <a:pos x="168" y="0"/>
                  </a:cxn>
                  <a:cxn ang="0">
                    <a:pos x="133" y="0"/>
                  </a:cxn>
                  <a:cxn ang="0">
                    <a:pos x="133" y="64"/>
                  </a:cxn>
                  <a:cxn ang="0">
                    <a:pos x="0" y="64"/>
                  </a:cxn>
                  <a:cxn ang="0">
                    <a:pos x="0" y="250"/>
                  </a:cxn>
                  <a:cxn ang="0">
                    <a:pos x="133" y="250"/>
                  </a:cxn>
                  <a:cxn ang="0">
                    <a:pos x="133" y="350"/>
                  </a:cxn>
                  <a:cxn ang="0">
                    <a:pos x="168" y="350"/>
                  </a:cxn>
                  <a:cxn ang="0">
                    <a:pos x="168" y="250"/>
                  </a:cxn>
                  <a:cxn ang="0">
                    <a:pos x="303" y="250"/>
                  </a:cxn>
                  <a:cxn ang="0">
                    <a:pos x="303" y="64"/>
                  </a:cxn>
                  <a:cxn ang="0">
                    <a:pos x="33" y="217"/>
                  </a:cxn>
                  <a:cxn ang="0">
                    <a:pos x="33" y="98"/>
                  </a:cxn>
                  <a:cxn ang="0">
                    <a:pos x="133" y="98"/>
                  </a:cxn>
                  <a:cxn ang="0">
                    <a:pos x="133" y="217"/>
                  </a:cxn>
                  <a:cxn ang="0">
                    <a:pos x="33" y="217"/>
                  </a:cxn>
                  <a:cxn ang="0">
                    <a:pos x="268" y="217"/>
                  </a:cxn>
                  <a:cxn ang="0">
                    <a:pos x="168" y="217"/>
                  </a:cxn>
                  <a:cxn ang="0">
                    <a:pos x="168" y="98"/>
                  </a:cxn>
                  <a:cxn ang="0">
                    <a:pos x="268" y="98"/>
                  </a:cxn>
                  <a:cxn ang="0">
                    <a:pos x="268" y="217"/>
                  </a:cxn>
                </a:cxnLst>
                <a:rect l="T0" t="T1" r="T2" b="T3"/>
                <a:pathLst>
                  <a:path w="303" h="350">
                    <a:moveTo>
                      <a:pt x="303" y="64"/>
                    </a:moveTo>
                    <a:lnTo>
                      <a:pt x="168" y="64"/>
                    </a:lnTo>
                    <a:lnTo>
                      <a:pt x="168" y="0"/>
                    </a:lnTo>
                    <a:lnTo>
                      <a:pt x="133" y="0"/>
                    </a:lnTo>
                    <a:lnTo>
                      <a:pt x="133" y="64"/>
                    </a:lnTo>
                    <a:lnTo>
                      <a:pt x="0" y="64"/>
                    </a:lnTo>
                    <a:lnTo>
                      <a:pt x="0" y="250"/>
                    </a:lnTo>
                    <a:lnTo>
                      <a:pt x="133" y="250"/>
                    </a:lnTo>
                    <a:lnTo>
                      <a:pt x="133" y="350"/>
                    </a:lnTo>
                    <a:lnTo>
                      <a:pt x="168" y="350"/>
                    </a:lnTo>
                    <a:lnTo>
                      <a:pt x="168" y="250"/>
                    </a:lnTo>
                    <a:lnTo>
                      <a:pt x="303" y="250"/>
                    </a:lnTo>
                    <a:lnTo>
                      <a:pt x="303" y="64"/>
                    </a:lnTo>
                    <a:close/>
                    <a:moveTo>
                      <a:pt x="33" y="217"/>
                    </a:moveTo>
                    <a:lnTo>
                      <a:pt x="33" y="98"/>
                    </a:lnTo>
                    <a:lnTo>
                      <a:pt x="133" y="98"/>
                    </a:lnTo>
                    <a:lnTo>
                      <a:pt x="133" y="217"/>
                    </a:lnTo>
                    <a:lnTo>
                      <a:pt x="33" y="217"/>
                    </a:lnTo>
                    <a:close/>
                    <a:moveTo>
                      <a:pt x="268" y="217"/>
                    </a:moveTo>
                    <a:lnTo>
                      <a:pt x="168" y="217"/>
                    </a:lnTo>
                    <a:lnTo>
                      <a:pt x="168" y="98"/>
                    </a:lnTo>
                    <a:lnTo>
                      <a:pt x="268" y="98"/>
                    </a:lnTo>
                    <a:lnTo>
                      <a:pt x="268" y="217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024255" eaLnBrk="0" hangingPunct="0">
                  <a:buFont typeface="Arial" panose="020B0604020202020204" pitchFamily="34" charset="0"/>
                  <a:buNone/>
                </a:pPr>
                <a:endParaRPr lang="zh-CN" altLang="en-US" sz="20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" name="Freeform 6"/>
              <p:cNvSpPr/>
              <p:nvPr userDrawn="1"/>
            </p:nvSpPr>
            <p:spPr bwMode="auto">
              <a:xfrm>
                <a:off x="612775" y="26988"/>
                <a:ext cx="488950" cy="522288"/>
              </a:xfrm>
              <a:custGeom>
                <a:avLst/>
                <a:gdLst>
                  <a:gd name="T0" fmla="*/ 0 w 308"/>
                  <a:gd name="T1" fmla="*/ 0 h 329"/>
                  <a:gd name="T2" fmla="*/ 308 w 308"/>
                  <a:gd name="T3" fmla="*/ 329 h 329"/>
                </a:gdLst>
                <a:ahLst/>
                <a:cxnLst>
                  <a:cxn ang="0">
                    <a:pos x="0" y="0"/>
                  </a:cxn>
                  <a:cxn ang="0">
                    <a:pos x="0" y="329"/>
                  </a:cxn>
                  <a:cxn ang="0">
                    <a:pos x="308" y="329"/>
                  </a:cxn>
                  <a:cxn ang="0">
                    <a:pos x="308" y="0"/>
                  </a:cxn>
                  <a:cxn ang="0">
                    <a:pos x="0" y="0"/>
                  </a:cxn>
                  <a:cxn ang="0">
                    <a:pos x="275" y="298"/>
                  </a:cxn>
                  <a:cxn ang="0">
                    <a:pos x="33" y="298"/>
                  </a:cxn>
                  <a:cxn ang="0">
                    <a:pos x="33" y="31"/>
                  </a:cxn>
                  <a:cxn ang="0">
                    <a:pos x="275" y="31"/>
                  </a:cxn>
                  <a:cxn ang="0">
                    <a:pos x="275" y="298"/>
                  </a:cxn>
                </a:cxnLst>
                <a:rect l="T0" t="T1" r="T2" b="T3"/>
                <a:pathLst>
                  <a:path w="308" h="329">
                    <a:moveTo>
                      <a:pt x="0" y="0"/>
                    </a:moveTo>
                    <a:lnTo>
                      <a:pt x="0" y="329"/>
                    </a:lnTo>
                    <a:lnTo>
                      <a:pt x="308" y="329"/>
                    </a:lnTo>
                    <a:lnTo>
                      <a:pt x="308" y="0"/>
                    </a:lnTo>
                    <a:lnTo>
                      <a:pt x="0" y="0"/>
                    </a:lnTo>
                    <a:close/>
                    <a:moveTo>
                      <a:pt x="275" y="298"/>
                    </a:moveTo>
                    <a:lnTo>
                      <a:pt x="33" y="298"/>
                    </a:lnTo>
                    <a:lnTo>
                      <a:pt x="33" y="31"/>
                    </a:lnTo>
                    <a:lnTo>
                      <a:pt x="275" y="31"/>
                    </a:lnTo>
                    <a:lnTo>
                      <a:pt x="275" y="298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024255" eaLnBrk="0" hangingPunct="0">
                  <a:buFont typeface="Arial" panose="020B0604020202020204" pitchFamily="34" charset="0"/>
                  <a:buNone/>
                </a:pPr>
                <a:endParaRPr lang="zh-CN" altLang="en-US" sz="20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" name="Freeform 7"/>
              <p:cNvSpPr/>
              <p:nvPr userDrawn="1"/>
            </p:nvSpPr>
            <p:spPr bwMode="auto">
              <a:xfrm>
                <a:off x="692150" y="117475"/>
                <a:ext cx="327025" cy="336550"/>
              </a:xfrm>
              <a:custGeom>
                <a:avLst/>
                <a:gdLst>
                  <a:gd name="T0" fmla="*/ 0 w 206"/>
                  <a:gd name="T1" fmla="*/ 0 h 212"/>
                  <a:gd name="T2" fmla="*/ 206 w 206"/>
                  <a:gd name="T3" fmla="*/ 212 h 212"/>
                </a:gdLst>
                <a:ahLst/>
                <a:cxnLst>
                  <a:cxn ang="0">
                    <a:pos x="118" y="181"/>
                  </a:cxn>
                  <a:cxn ang="0">
                    <a:pos x="118" y="107"/>
                  </a:cxn>
                  <a:cxn ang="0">
                    <a:pos x="194" y="107"/>
                  </a:cxn>
                  <a:cxn ang="0">
                    <a:pos x="194" y="77"/>
                  </a:cxn>
                  <a:cxn ang="0">
                    <a:pos x="118" y="77"/>
                  </a:cxn>
                  <a:cxn ang="0">
                    <a:pos x="118" y="31"/>
                  </a:cxn>
                  <a:cxn ang="0">
                    <a:pos x="199" y="31"/>
                  </a:cxn>
                  <a:cxn ang="0">
                    <a:pos x="199" y="0"/>
                  </a:cxn>
                  <a:cxn ang="0">
                    <a:pos x="5" y="0"/>
                  </a:cxn>
                  <a:cxn ang="0">
                    <a:pos x="5" y="31"/>
                  </a:cxn>
                  <a:cxn ang="0">
                    <a:pos x="88" y="31"/>
                  </a:cxn>
                  <a:cxn ang="0">
                    <a:pos x="88" y="77"/>
                  </a:cxn>
                  <a:cxn ang="0">
                    <a:pos x="12" y="77"/>
                  </a:cxn>
                  <a:cxn ang="0">
                    <a:pos x="12" y="107"/>
                  </a:cxn>
                  <a:cxn ang="0">
                    <a:pos x="88" y="107"/>
                  </a:cxn>
                  <a:cxn ang="0">
                    <a:pos x="88" y="181"/>
                  </a:cxn>
                  <a:cxn ang="0">
                    <a:pos x="0" y="181"/>
                  </a:cxn>
                  <a:cxn ang="0">
                    <a:pos x="0" y="212"/>
                  </a:cxn>
                  <a:cxn ang="0">
                    <a:pos x="206" y="212"/>
                  </a:cxn>
                  <a:cxn ang="0">
                    <a:pos x="206" y="181"/>
                  </a:cxn>
                  <a:cxn ang="0">
                    <a:pos x="118" y="181"/>
                  </a:cxn>
                </a:cxnLst>
                <a:rect l="T0" t="T1" r="T2" b="T3"/>
                <a:pathLst>
                  <a:path w="206" h="212">
                    <a:moveTo>
                      <a:pt x="118" y="181"/>
                    </a:moveTo>
                    <a:lnTo>
                      <a:pt x="118" y="107"/>
                    </a:lnTo>
                    <a:lnTo>
                      <a:pt x="194" y="107"/>
                    </a:lnTo>
                    <a:lnTo>
                      <a:pt x="194" y="77"/>
                    </a:lnTo>
                    <a:lnTo>
                      <a:pt x="118" y="77"/>
                    </a:lnTo>
                    <a:lnTo>
                      <a:pt x="118" y="31"/>
                    </a:lnTo>
                    <a:lnTo>
                      <a:pt x="199" y="31"/>
                    </a:lnTo>
                    <a:lnTo>
                      <a:pt x="199" y="0"/>
                    </a:lnTo>
                    <a:lnTo>
                      <a:pt x="5" y="0"/>
                    </a:lnTo>
                    <a:lnTo>
                      <a:pt x="5" y="31"/>
                    </a:lnTo>
                    <a:lnTo>
                      <a:pt x="88" y="31"/>
                    </a:lnTo>
                    <a:lnTo>
                      <a:pt x="88" y="77"/>
                    </a:lnTo>
                    <a:lnTo>
                      <a:pt x="12" y="77"/>
                    </a:lnTo>
                    <a:lnTo>
                      <a:pt x="12" y="107"/>
                    </a:lnTo>
                    <a:lnTo>
                      <a:pt x="88" y="107"/>
                    </a:lnTo>
                    <a:lnTo>
                      <a:pt x="88" y="181"/>
                    </a:lnTo>
                    <a:lnTo>
                      <a:pt x="0" y="181"/>
                    </a:lnTo>
                    <a:lnTo>
                      <a:pt x="0" y="212"/>
                    </a:lnTo>
                    <a:lnTo>
                      <a:pt x="206" y="212"/>
                    </a:lnTo>
                    <a:lnTo>
                      <a:pt x="206" y="181"/>
                    </a:lnTo>
                    <a:lnTo>
                      <a:pt x="118" y="18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024255" eaLnBrk="0" hangingPunct="0">
                  <a:buFont typeface="Arial" panose="020B0604020202020204" pitchFamily="34" charset="0"/>
                  <a:buNone/>
                </a:pPr>
                <a:endParaRPr lang="zh-CN" altLang="en-US" sz="20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" name="Freeform 8"/>
              <p:cNvSpPr/>
              <p:nvPr userDrawn="1"/>
            </p:nvSpPr>
            <p:spPr bwMode="auto">
              <a:xfrm>
                <a:off x="895350" y="292100"/>
                <a:ext cx="101600" cy="106363"/>
              </a:xfrm>
              <a:custGeom>
                <a:avLst/>
                <a:gdLst>
                  <a:gd name="T0" fmla="*/ 0 w 27"/>
                  <a:gd name="T1" fmla="*/ 0 h 28"/>
                  <a:gd name="T2" fmla="*/ 27 w 27"/>
                  <a:gd name="T3" fmla="*/ 28 h 28"/>
                </a:gdLst>
                <a:ahLst/>
                <a:cxnLst>
                  <a:cxn ang="0">
                    <a:pos x="16" y="28"/>
                  </a:cxn>
                  <a:cxn ang="0">
                    <a:pos x="27" y="19"/>
                  </a:cxn>
                  <a:cxn ang="0">
                    <a:pos x="11" y="0"/>
                  </a:cxn>
                  <a:cxn ang="0">
                    <a:pos x="0" y="8"/>
                  </a:cxn>
                  <a:cxn ang="0">
                    <a:pos x="16" y="28"/>
                  </a:cxn>
                </a:cxnLst>
                <a:rect l="T0" t="T1" r="T2" b="T3"/>
                <a:pathLst>
                  <a:path w="27" h="28">
                    <a:moveTo>
                      <a:pt x="16" y="28"/>
                    </a:moveTo>
                    <a:cubicBezTo>
                      <a:pt x="27" y="19"/>
                      <a:pt x="27" y="19"/>
                      <a:pt x="27" y="19"/>
                    </a:cubicBezTo>
                    <a:cubicBezTo>
                      <a:pt x="21" y="12"/>
                      <a:pt x="11" y="0"/>
                      <a:pt x="11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9" y="18"/>
                      <a:pt x="16" y="28"/>
                      <a:pt x="16" y="28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024255" eaLnBrk="0" hangingPunct="0">
                  <a:buFont typeface="Arial" panose="020B0604020202020204" pitchFamily="34" charset="0"/>
                  <a:buNone/>
                </a:pPr>
                <a:endParaRPr lang="zh-CN" altLang="en-US" sz="20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" name="Freeform 9"/>
              <p:cNvSpPr/>
              <p:nvPr userDrawn="1"/>
            </p:nvSpPr>
            <p:spPr bwMode="auto">
              <a:xfrm>
                <a:off x="1195387" y="26988"/>
                <a:ext cx="241300" cy="536575"/>
              </a:xfrm>
              <a:custGeom>
                <a:avLst/>
                <a:gdLst>
                  <a:gd name="T0" fmla="*/ 0 w 64"/>
                  <a:gd name="T1" fmla="*/ 0 h 142"/>
                  <a:gd name="T2" fmla="*/ 64 w 64"/>
                  <a:gd name="T3" fmla="*/ 142 h 142"/>
                </a:gdLst>
                <a:ahLst/>
                <a:cxnLst>
                  <a:cxn ang="0">
                    <a:pos x="55" y="91"/>
                  </a:cxn>
                  <a:cxn ang="0">
                    <a:pos x="64" y="80"/>
                  </a:cxn>
                  <a:cxn ang="0">
                    <a:pos x="40" y="60"/>
                  </a:cxn>
                  <a:cxn ang="0">
                    <a:pos x="40" y="53"/>
                  </a:cxn>
                  <a:cxn ang="0">
                    <a:pos x="60" y="53"/>
                  </a:cxn>
                  <a:cxn ang="0">
                    <a:pos x="60" y="40"/>
                  </a:cxn>
                  <a:cxn ang="0">
                    <a:pos x="40" y="40"/>
                  </a:cxn>
                  <a:cxn ang="0">
                    <a:pos x="40" y="19"/>
                  </a:cxn>
                  <a:cxn ang="0">
                    <a:pos x="61" y="14"/>
                  </a:cxn>
                  <a:cxn ang="0">
                    <a:pos x="58" y="0"/>
                  </a:cxn>
                  <a:cxn ang="0">
                    <a:pos x="5" y="9"/>
                  </a:cxn>
                  <a:cxn ang="0">
                    <a:pos x="7" y="22"/>
                  </a:cxn>
                  <a:cxn ang="0">
                    <a:pos x="26" y="19"/>
                  </a:cxn>
                  <a:cxn ang="0">
                    <a:pos x="26" y="40"/>
                  </a:cxn>
                  <a:cxn ang="0">
                    <a:pos x="3" y="40"/>
                  </a:cxn>
                  <a:cxn ang="0">
                    <a:pos x="3" y="53"/>
                  </a:cxn>
                  <a:cxn ang="0">
                    <a:pos x="24" y="53"/>
                  </a:cxn>
                  <a:cxn ang="0">
                    <a:pos x="0" y="101"/>
                  </a:cxn>
                  <a:cxn ang="0">
                    <a:pos x="11" y="112"/>
                  </a:cxn>
                  <a:cxn ang="0">
                    <a:pos x="26" y="84"/>
                  </a:cxn>
                  <a:cxn ang="0">
                    <a:pos x="26" y="142"/>
                  </a:cxn>
                  <a:cxn ang="0">
                    <a:pos x="40" y="142"/>
                  </a:cxn>
                  <a:cxn ang="0">
                    <a:pos x="40" y="77"/>
                  </a:cxn>
                  <a:cxn ang="0">
                    <a:pos x="55" y="91"/>
                  </a:cxn>
                </a:cxnLst>
                <a:rect l="T0" t="T1" r="T2" b="T3"/>
                <a:pathLst>
                  <a:path w="64" h="142">
                    <a:moveTo>
                      <a:pt x="55" y="91"/>
                    </a:moveTo>
                    <a:cubicBezTo>
                      <a:pt x="64" y="80"/>
                      <a:pt x="64" y="80"/>
                      <a:pt x="64" y="80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40" y="40"/>
                      <a:pt x="40" y="40"/>
                      <a:pt x="40" y="40"/>
                    </a:cubicBezTo>
                    <a:cubicBezTo>
                      <a:pt x="40" y="19"/>
                      <a:pt x="40" y="19"/>
                      <a:pt x="40" y="19"/>
                    </a:cubicBezTo>
                    <a:cubicBezTo>
                      <a:pt x="49" y="16"/>
                      <a:pt x="61" y="14"/>
                      <a:pt x="61" y="1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46" y="4"/>
                      <a:pt x="5" y="9"/>
                      <a:pt x="5" y="9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40"/>
                      <a:pt x="26" y="40"/>
                      <a:pt x="26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53"/>
                      <a:pt x="3" y="53"/>
                      <a:pt x="3" y="53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23" y="58"/>
                      <a:pt x="15" y="80"/>
                      <a:pt x="0" y="101"/>
                    </a:cubicBezTo>
                    <a:cubicBezTo>
                      <a:pt x="11" y="112"/>
                      <a:pt x="11" y="112"/>
                      <a:pt x="11" y="112"/>
                    </a:cubicBezTo>
                    <a:cubicBezTo>
                      <a:pt x="11" y="112"/>
                      <a:pt x="19" y="98"/>
                      <a:pt x="26" y="84"/>
                    </a:cubicBezTo>
                    <a:cubicBezTo>
                      <a:pt x="26" y="142"/>
                      <a:pt x="26" y="142"/>
                      <a:pt x="26" y="142"/>
                    </a:cubicBezTo>
                    <a:cubicBezTo>
                      <a:pt x="40" y="142"/>
                      <a:pt x="40" y="142"/>
                      <a:pt x="40" y="142"/>
                    </a:cubicBezTo>
                    <a:cubicBezTo>
                      <a:pt x="40" y="77"/>
                      <a:pt x="40" y="77"/>
                      <a:pt x="40" y="77"/>
                    </a:cubicBezTo>
                    <a:lnTo>
                      <a:pt x="55" y="9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024255" eaLnBrk="0" hangingPunct="0">
                  <a:buFont typeface="Arial" panose="020B0604020202020204" pitchFamily="34" charset="0"/>
                  <a:buNone/>
                </a:pPr>
                <a:endParaRPr lang="zh-CN" altLang="en-US" sz="20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" name="Freeform 10"/>
              <p:cNvSpPr/>
              <p:nvPr userDrawn="1"/>
            </p:nvSpPr>
            <p:spPr bwMode="auto">
              <a:xfrm>
                <a:off x="1392237" y="0"/>
                <a:ext cx="360363" cy="563563"/>
              </a:xfrm>
              <a:custGeom>
                <a:avLst/>
                <a:gdLst>
                  <a:gd name="T0" fmla="*/ 0 w 96"/>
                  <a:gd name="T1" fmla="*/ 0 h 149"/>
                  <a:gd name="T2" fmla="*/ 96 w 96"/>
                  <a:gd name="T3" fmla="*/ 149 h 149"/>
                </a:gdLst>
                <a:ahLst/>
                <a:cxnLst>
                  <a:cxn ang="0">
                    <a:pos x="59" y="76"/>
                  </a:cxn>
                  <a:cxn ang="0">
                    <a:pos x="62" y="69"/>
                  </a:cxn>
                  <a:cxn ang="0">
                    <a:pos x="49" y="67"/>
                  </a:cxn>
                  <a:cxn ang="0">
                    <a:pos x="55" y="64"/>
                  </a:cxn>
                  <a:cxn ang="0">
                    <a:pos x="91" y="26"/>
                  </a:cxn>
                  <a:cxn ang="0">
                    <a:pos x="91" y="14"/>
                  </a:cxn>
                  <a:cxn ang="0">
                    <a:pos x="44" y="14"/>
                  </a:cxn>
                  <a:cxn ang="0">
                    <a:pos x="49" y="5"/>
                  </a:cxn>
                  <a:cxn ang="0">
                    <a:pos x="36" y="0"/>
                  </a:cxn>
                  <a:cxn ang="0">
                    <a:pos x="3" y="40"/>
                  </a:cxn>
                  <a:cxn ang="0">
                    <a:pos x="15" y="49"/>
                  </a:cxn>
                  <a:cxn ang="0">
                    <a:pos x="35" y="27"/>
                  </a:cxn>
                  <a:cxn ang="0">
                    <a:pos x="75" y="27"/>
                  </a:cxn>
                  <a:cxn ang="0">
                    <a:pos x="53" y="49"/>
                  </a:cxn>
                  <a:cxn ang="0">
                    <a:pos x="35" y="34"/>
                  </a:cxn>
                  <a:cxn ang="0">
                    <a:pos x="26" y="44"/>
                  </a:cxn>
                  <a:cxn ang="0">
                    <a:pos x="41" y="56"/>
                  </a:cxn>
                  <a:cxn ang="0">
                    <a:pos x="6" y="71"/>
                  </a:cxn>
                  <a:cxn ang="0">
                    <a:pos x="15" y="82"/>
                  </a:cxn>
                  <a:cxn ang="0">
                    <a:pos x="46" y="69"/>
                  </a:cxn>
                  <a:cxn ang="0">
                    <a:pos x="27" y="91"/>
                  </a:cxn>
                  <a:cxn ang="0">
                    <a:pos x="3" y="108"/>
                  </a:cxn>
                  <a:cxn ang="0">
                    <a:pos x="13" y="119"/>
                  </a:cxn>
                  <a:cxn ang="0">
                    <a:pos x="50" y="89"/>
                  </a:cxn>
                  <a:cxn ang="0">
                    <a:pos x="80" y="89"/>
                  </a:cxn>
                  <a:cxn ang="0">
                    <a:pos x="57" y="121"/>
                  </a:cxn>
                  <a:cxn ang="0">
                    <a:pos x="40" y="105"/>
                  </a:cxn>
                  <a:cxn ang="0">
                    <a:pos x="30" y="113"/>
                  </a:cxn>
                  <a:cxn ang="0">
                    <a:pos x="44" y="127"/>
                  </a:cxn>
                  <a:cxn ang="0">
                    <a:pos x="0" y="137"/>
                  </a:cxn>
                  <a:cxn ang="0">
                    <a:pos x="6" y="149"/>
                  </a:cxn>
                  <a:cxn ang="0">
                    <a:pos x="68" y="128"/>
                  </a:cxn>
                  <a:cxn ang="0">
                    <a:pos x="96" y="89"/>
                  </a:cxn>
                  <a:cxn ang="0">
                    <a:pos x="96" y="76"/>
                  </a:cxn>
                  <a:cxn ang="0">
                    <a:pos x="59" y="76"/>
                  </a:cxn>
                </a:cxnLst>
                <a:rect l="T0" t="T1" r="T2" b="T3"/>
                <a:pathLst>
                  <a:path w="96" h="149">
                    <a:moveTo>
                      <a:pt x="59" y="76"/>
                    </a:moveTo>
                    <a:cubicBezTo>
                      <a:pt x="60" y="74"/>
                      <a:pt x="61" y="72"/>
                      <a:pt x="62" y="69"/>
                    </a:cubicBezTo>
                    <a:cubicBezTo>
                      <a:pt x="49" y="67"/>
                      <a:pt x="49" y="67"/>
                      <a:pt x="49" y="67"/>
                    </a:cubicBezTo>
                    <a:cubicBezTo>
                      <a:pt x="51" y="66"/>
                      <a:pt x="53" y="65"/>
                      <a:pt x="55" y="64"/>
                    </a:cubicBezTo>
                    <a:cubicBezTo>
                      <a:pt x="82" y="46"/>
                      <a:pt x="91" y="26"/>
                      <a:pt x="91" y="26"/>
                    </a:cubicBezTo>
                    <a:cubicBezTo>
                      <a:pt x="91" y="14"/>
                      <a:pt x="91" y="14"/>
                      <a:pt x="91" y="14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6" y="11"/>
                      <a:pt x="48" y="8"/>
                      <a:pt x="49" y="5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25" y="24"/>
                      <a:pt x="3" y="40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5" y="49"/>
                      <a:pt x="25" y="40"/>
                      <a:pt x="35" y="27"/>
                    </a:cubicBezTo>
                    <a:cubicBezTo>
                      <a:pt x="75" y="27"/>
                      <a:pt x="75" y="27"/>
                      <a:pt x="75" y="27"/>
                    </a:cubicBezTo>
                    <a:cubicBezTo>
                      <a:pt x="69" y="36"/>
                      <a:pt x="61" y="43"/>
                      <a:pt x="53" y="49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41" y="56"/>
                      <a:pt x="41" y="56"/>
                      <a:pt x="41" y="56"/>
                    </a:cubicBezTo>
                    <a:cubicBezTo>
                      <a:pt x="23" y="66"/>
                      <a:pt x="6" y="71"/>
                      <a:pt x="6" y="71"/>
                    </a:cubicBezTo>
                    <a:cubicBezTo>
                      <a:pt x="15" y="82"/>
                      <a:pt x="15" y="82"/>
                      <a:pt x="15" y="82"/>
                    </a:cubicBezTo>
                    <a:cubicBezTo>
                      <a:pt x="28" y="77"/>
                      <a:pt x="37" y="73"/>
                      <a:pt x="46" y="69"/>
                    </a:cubicBezTo>
                    <a:cubicBezTo>
                      <a:pt x="43" y="73"/>
                      <a:pt x="38" y="81"/>
                      <a:pt x="27" y="91"/>
                    </a:cubicBezTo>
                    <a:cubicBezTo>
                      <a:pt x="21" y="97"/>
                      <a:pt x="13" y="103"/>
                      <a:pt x="3" y="108"/>
                    </a:cubicBezTo>
                    <a:cubicBezTo>
                      <a:pt x="13" y="119"/>
                      <a:pt x="13" y="119"/>
                      <a:pt x="13" y="119"/>
                    </a:cubicBezTo>
                    <a:cubicBezTo>
                      <a:pt x="13" y="119"/>
                      <a:pt x="34" y="108"/>
                      <a:pt x="50" y="89"/>
                    </a:cubicBezTo>
                    <a:cubicBezTo>
                      <a:pt x="80" y="89"/>
                      <a:pt x="80" y="89"/>
                      <a:pt x="80" y="89"/>
                    </a:cubicBezTo>
                    <a:cubicBezTo>
                      <a:pt x="77" y="104"/>
                      <a:pt x="68" y="114"/>
                      <a:pt x="57" y="121"/>
                    </a:cubicBezTo>
                    <a:cubicBezTo>
                      <a:pt x="40" y="105"/>
                      <a:pt x="40" y="105"/>
                      <a:pt x="40" y="105"/>
                    </a:cubicBezTo>
                    <a:cubicBezTo>
                      <a:pt x="30" y="113"/>
                      <a:pt x="30" y="113"/>
                      <a:pt x="30" y="113"/>
                    </a:cubicBezTo>
                    <a:cubicBezTo>
                      <a:pt x="30" y="113"/>
                      <a:pt x="39" y="122"/>
                      <a:pt x="44" y="127"/>
                    </a:cubicBezTo>
                    <a:cubicBezTo>
                      <a:pt x="23" y="136"/>
                      <a:pt x="0" y="137"/>
                      <a:pt x="0" y="137"/>
                    </a:cubicBezTo>
                    <a:cubicBezTo>
                      <a:pt x="6" y="149"/>
                      <a:pt x="6" y="149"/>
                      <a:pt x="6" y="149"/>
                    </a:cubicBezTo>
                    <a:cubicBezTo>
                      <a:pt x="35" y="146"/>
                      <a:pt x="54" y="138"/>
                      <a:pt x="68" y="128"/>
                    </a:cubicBezTo>
                    <a:cubicBezTo>
                      <a:pt x="91" y="111"/>
                      <a:pt x="96" y="89"/>
                      <a:pt x="96" y="89"/>
                    </a:cubicBezTo>
                    <a:cubicBezTo>
                      <a:pt x="96" y="76"/>
                      <a:pt x="96" y="76"/>
                      <a:pt x="96" y="76"/>
                    </a:cubicBezTo>
                    <a:lnTo>
                      <a:pt x="59" y="76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024255" eaLnBrk="0" hangingPunct="0">
                  <a:buFont typeface="Arial" panose="020B0604020202020204" pitchFamily="34" charset="0"/>
                  <a:buNone/>
                </a:pPr>
                <a:endParaRPr lang="zh-CN" altLang="en-US" sz="20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" name="Rectangle 11"/>
              <p:cNvSpPr/>
              <p:nvPr userDrawn="1"/>
            </p:nvSpPr>
            <p:spPr bwMode="auto">
              <a:xfrm>
                <a:off x="1851025" y="57150"/>
                <a:ext cx="228600" cy="52388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024255">
                  <a:buFont typeface="Arial" panose="020B0604020202020204" pitchFamily="34" charset="0"/>
                  <a:buNone/>
                </a:pPr>
                <a:endParaRPr lang="zh-CN" altLang="en-US" sz="2000"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4" name="Freeform 12"/>
              <p:cNvSpPr/>
              <p:nvPr userDrawn="1"/>
            </p:nvSpPr>
            <p:spPr bwMode="auto">
              <a:xfrm>
                <a:off x="1824037" y="204788"/>
                <a:ext cx="277813" cy="309563"/>
              </a:xfrm>
              <a:custGeom>
                <a:avLst/>
                <a:gdLst>
                  <a:gd name="T0" fmla="*/ 0 w 74"/>
                  <a:gd name="T1" fmla="*/ 0 h 82"/>
                  <a:gd name="T2" fmla="*/ 74 w 74"/>
                  <a:gd name="T3" fmla="*/ 82 h 82"/>
                </a:gdLst>
                <a:ahLst/>
                <a:cxnLst>
                  <a:cxn ang="0">
                    <a:pos x="56" y="73"/>
                  </a:cxn>
                  <a:cxn ang="0">
                    <a:pos x="70" y="68"/>
                  </a:cxn>
                  <a:cxn ang="0">
                    <a:pos x="53" y="29"/>
                  </a:cxn>
                  <a:cxn ang="0">
                    <a:pos x="40" y="35"/>
                  </a:cxn>
                  <a:cxn ang="0">
                    <a:pos x="50" y="58"/>
                  </a:cxn>
                  <a:cxn ang="0">
                    <a:pos x="19" y="66"/>
                  </a:cxn>
                  <a:cxn ang="0">
                    <a:pos x="30" y="39"/>
                  </a:cxn>
                  <a:cxn ang="0">
                    <a:pos x="40" y="13"/>
                  </a:cxn>
                  <a:cxn ang="0">
                    <a:pos x="74" y="13"/>
                  </a:cxn>
                  <a:cxn ang="0">
                    <a:pos x="74" y="0"/>
                  </a:cxn>
                  <a:cxn ang="0">
                    <a:pos x="0" y="0"/>
                  </a:cxn>
                  <a:cxn ang="0">
                    <a:pos x="0" y="13"/>
                  </a:cxn>
                  <a:cxn ang="0">
                    <a:pos x="24" y="13"/>
                  </a:cxn>
                  <a:cxn ang="0">
                    <a:pos x="13" y="48"/>
                  </a:cxn>
                  <a:cxn ang="0">
                    <a:pos x="0" y="71"/>
                  </a:cxn>
                  <a:cxn ang="0">
                    <a:pos x="4" y="82"/>
                  </a:cxn>
                  <a:cxn ang="0">
                    <a:pos x="55" y="70"/>
                  </a:cxn>
                  <a:cxn ang="0">
                    <a:pos x="56" y="73"/>
                  </a:cxn>
                </a:cxnLst>
                <a:rect l="T0" t="T1" r="T2" b="T3"/>
                <a:pathLst>
                  <a:path w="74" h="82">
                    <a:moveTo>
                      <a:pt x="56" y="73"/>
                    </a:moveTo>
                    <a:cubicBezTo>
                      <a:pt x="70" y="68"/>
                      <a:pt x="70" y="68"/>
                      <a:pt x="70" y="68"/>
                    </a:cubicBezTo>
                    <a:cubicBezTo>
                      <a:pt x="67" y="60"/>
                      <a:pt x="53" y="29"/>
                      <a:pt x="53" y="29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44" y="42"/>
                      <a:pt x="47" y="51"/>
                      <a:pt x="50" y="58"/>
                    </a:cubicBezTo>
                    <a:cubicBezTo>
                      <a:pt x="44" y="59"/>
                      <a:pt x="27" y="63"/>
                      <a:pt x="19" y="66"/>
                    </a:cubicBezTo>
                    <a:cubicBezTo>
                      <a:pt x="19" y="66"/>
                      <a:pt x="23" y="59"/>
                      <a:pt x="30" y="39"/>
                    </a:cubicBezTo>
                    <a:cubicBezTo>
                      <a:pt x="36" y="22"/>
                      <a:pt x="37" y="17"/>
                      <a:pt x="40" y="13"/>
                    </a:cubicBezTo>
                    <a:cubicBezTo>
                      <a:pt x="74" y="13"/>
                      <a:pt x="74" y="13"/>
                      <a:pt x="74" y="13"/>
                    </a:cubicBezTo>
                    <a:cubicBezTo>
                      <a:pt x="74" y="0"/>
                      <a:pt x="74" y="0"/>
                      <a:pt x="7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3" y="18"/>
                      <a:pt x="19" y="33"/>
                      <a:pt x="13" y="48"/>
                    </a:cubicBezTo>
                    <a:cubicBezTo>
                      <a:pt x="9" y="57"/>
                      <a:pt x="5" y="65"/>
                      <a:pt x="0" y="71"/>
                    </a:cubicBezTo>
                    <a:cubicBezTo>
                      <a:pt x="4" y="82"/>
                      <a:pt x="4" y="82"/>
                      <a:pt x="4" y="82"/>
                    </a:cubicBezTo>
                    <a:cubicBezTo>
                      <a:pt x="4" y="82"/>
                      <a:pt x="41" y="71"/>
                      <a:pt x="55" y="70"/>
                    </a:cubicBezTo>
                    <a:cubicBezTo>
                      <a:pt x="56" y="72"/>
                      <a:pt x="56" y="73"/>
                      <a:pt x="56" y="7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024255" eaLnBrk="0" hangingPunct="0">
                  <a:buFont typeface="Arial" panose="020B0604020202020204" pitchFamily="34" charset="0"/>
                  <a:buNone/>
                </a:pPr>
                <a:endParaRPr lang="zh-CN" altLang="en-US" sz="20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Freeform 13"/>
              <p:cNvSpPr/>
              <p:nvPr userDrawn="1"/>
            </p:nvSpPr>
            <p:spPr bwMode="auto">
              <a:xfrm>
                <a:off x="2024062" y="7938"/>
                <a:ext cx="334963" cy="563563"/>
              </a:xfrm>
              <a:custGeom>
                <a:avLst/>
                <a:gdLst>
                  <a:gd name="T0" fmla="*/ 0 w 89"/>
                  <a:gd name="T1" fmla="*/ 0 h 149"/>
                  <a:gd name="T2" fmla="*/ 89 w 89"/>
                  <a:gd name="T3" fmla="*/ 149 h 149"/>
                </a:gdLst>
                <a:ahLst/>
                <a:cxnLst>
                  <a:cxn ang="0">
                    <a:pos x="50" y="30"/>
                  </a:cxn>
                  <a:cxn ang="0">
                    <a:pos x="50" y="0"/>
                  </a:cxn>
                  <a:cxn ang="0">
                    <a:pos x="35" y="0"/>
                  </a:cxn>
                  <a:cxn ang="0">
                    <a:pos x="35" y="30"/>
                  </a:cxn>
                  <a:cxn ang="0">
                    <a:pos x="16" y="30"/>
                  </a:cxn>
                  <a:cxn ang="0">
                    <a:pos x="16" y="44"/>
                  </a:cxn>
                  <a:cxn ang="0">
                    <a:pos x="35" y="44"/>
                  </a:cxn>
                  <a:cxn ang="0">
                    <a:pos x="34" y="73"/>
                  </a:cxn>
                  <a:cxn ang="0">
                    <a:pos x="30" y="97"/>
                  </a:cxn>
                  <a:cxn ang="0">
                    <a:pos x="0" y="139"/>
                  </a:cxn>
                  <a:cxn ang="0">
                    <a:pos x="11" y="149"/>
                  </a:cxn>
                  <a:cxn ang="0">
                    <a:pos x="49" y="67"/>
                  </a:cxn>
                  <a:cxn ang="0">
                    <a:pos x="49" y="44"/>
                  </a:cxn>
                  <a:cxn ang="0">
                    <a:pos x="74" y="44"/>
                  </a:cxn>
                  <a:cxn ang="0">
                    <a:pos x="71" y="119"/>
                  </a:cxn>
                  <a:cxn ang="0">
                    <a:pos x="62" y="128"/>
                  </a:cxn>
                  <a:cxn ang="0">
                    <a:pos x="45" y="128"/>
                  </a:cxn>
                  <a:cxn ang="0">
                    <a:pos x="48" y="143"/>
                  </a:cxn>
                  <a:cxn ang="0">
                    <a:pos x="64" y="143"/>
                  </a:cxn>
                  <a:cxn ang="0">
                    <a:pos x="86" y="121"/>
                  </a:cxn>
                  <a:cxn ang="0">
                    <a:pos x="89" y="30"/>
                  </a:cxn>
                  <a:cxn ang="0">
                    <a:pos x="50" y="30"/>
                  </a:cxn>
                </a:cxnLst>
                <a:rect l="T0" t="T1" r="T2" b="T3"/>
                <a:pathLst>
                  <a:path w="89" h="149">
                    <a:moveTo>
                      <a:pt x="50" y="30"/>
                    </a:moveTo>
                    <a:cubicBezTo>
                      <a:pt x="50" y="0"/>
                      <a:pt x="50" y="0"/>
                      <a:pt x="50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13"/>
                      <a:pt x="35" y="30"/>
                    </a:cubicBezTo>
                    <a:cubicBezTo>
                      <a:pt x="16" y="30"/>
                      <a:pt x="16" y="30"/>
                      <a:pt x="16" y="30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35" y="44"/>
                      <a:pt x="35" y="44"/>
                      <a:pt x="35" y="44"/>
                    </a:cubicBezTo>
                    <a:cubicBezTo>
                      <a:pt x="35" y="55"/>
                      <a:pt x="35" y="66"/>
                      <a:pt x="34" y="73"/>
                    </a:cubicBezTo>
                    <a:cubicBezTo>
                      <a:pt x="33" y="90"/>
                      <a:pt x="30" y="97"/>
                      <a:pt x="30" y="97"/>
                    </a:cubicBezTo>
                    <a:cubicBezTo>
                      <a:pt x="23" y="126"/>
                      <a:pt x="0" y="139"/>
                      <a:pt x="0" y="139"/>
                    </a:cubicBezTo>
                    <a:cubicBezTo>
                      <a:pt x="11" y="149"/>
                      <a:pt x="11" y="149"/>
                      <a:pt x="11" y="149"/>
                    </a:cubicBezTo>
                    <a:cubicBezTo>
                      <a:pt x="51" y="124"/>
                      <a:pt x="49" y="67"/>
                      <a:pt x="49" y="67"/>
                    </a:cubicBezTo>
                    <a:cubicBezTo>
                      <a:pt x="49" y="44"/>
                      <a:pt x="49" y="44"/>
                      <a:pt x="49" y="44"/>
                    </a:cubicBezTo>
                    <a:cubicBezTo>
                      <a:pt x="74" y="44"/>
                      <a:pt x="74" y="44"/>
                      <a:pt x="74" y="44"/>
                    </a:cubicBezTo>
                    <a:cubicBezTo>
                      <a:pt x="71" y="119"/>
                      <a:pt x="71" y="119"/>
                      <a:pt x="71" y="119"/>
                    </a:cubicBezTo>
                    <a:cubicBezTo>
                      <a:pt x="71" y="129"/>
                      <a:pt x="62" y="128"/>
                      <a:pt x="62" y="128"/>
                    </a:cubicBezTo>
                    <a:cubicBezTo>
                      <a:pt x="45" y="128"/>
                      <a:pt x="45" y="128"/>
                      <a:pt x="45" y="128"/>
                    </a:cubicBezTo>
                    <a:cubicBezTo>
                      <a:pt x="48" y="143"/>
                      <a:pt x="48" y="143"/>
                      <a:pt x="48" y="143"/>
                    </a:cubicBezTo>
                    <a:cubicBezTo>
                      <a:pt x="64" y="143"/>
                      <a:pt x="64" y="143"/>
                      <a:pt x="64" y="143"/>
                    </a:cubicBezTo>
                    <a:cubicBezTo>
                      <a:pt x="85" y="143"/>
                      <a:pt x="86" y="121"/>
                      <a:pt x="86" y="121"/>
                    </a:cubicBezTo>
                    <a:cubicBezTo>
                      <a:pt x="89" y="30"/>
                      <a:pt x="89" y="30"/>
                      <a:pt x="89" y="30"/>
                    </a:cubicBezTo>
                    <a:lnTo>
                      <a:pt x="50" y="3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024255" eaLnBrk="0" hangingPunct="0">
                  <a:buFont typeface="Arial" panose="020B0604020202020204" pitchFamily="34" charset="0"/>
                  <a:buNone/>
                </a:pPr>
                <a:endParaRPr lang="zh-CN" altLang="en-US" sz="20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Rectangle 14"/>
              <p:cNvSpPr/>
              <p:nvPr userDrawn="1"/>
            </p:nvSpPr>
            <p:spPr bwMode="auto">
              <a:xfrm>
                <a:off x="563562" y="773113"/>
                <a:ext cx="46038" cy="22225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024255">
                  <a:buFont typeface="Arial" panose="020B0604020202020204" pitchFamily="34" charset="0"/>
                  <a:buNone/>
                </a:pPr>
                <a:endParaRPr lang="zh-CN" altLang="en-US" sz="2000"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7" name="Rectangle 15"/>
              <p:cNvSpPr/>
              <p:nvPr userDrawn="1"/>
            </p:nvSpPr>
            <p:spPr bwMode="auto">
              <a:xfrm>
                <a:off x="563562" y="685800"/>
                <a:ext cx="46038" cy="4921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024255">
                  <a:buFont typeface="Arial" panose="020B0604020202020204" pitchFamily="34" charset="0"/>
                  <a:buNone/>
                </a:pPr>
                <a:endParaRPr lang="zh-CN" altLang="en-US" sz="2000"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8" name="Rectangle 16"/>
              <p:cNvSpPr/>
              <p:nvPr userDrawn="1"/>
            </p:nvSpPr>
            <p:spPr bwMode="auto">
              <a:xfrm>
                <a:off x="1997075" y="773113"/>
                <a:ext cx="41275" cy="22225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024255">
                  <a:buFont typeface="Arial" panose="020B0604020202020204" pitchFamily="34" charset="0"/>
                  <a:buNone/>
                </a:pPr>
                <a:endParaRPr lang="zh-CN" altLang="en-US" sz="2000"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9" name="Rectangle 17"/>
              <p:cNvSpPr/>
              <p:nvPr userDrawn="1"/>
            </p:nvSpPr>
            <p:spPr bwMode="auto">
              <a:xfrm>
                <a:off x="2087562" y="661988"/>
                <a:ext cx="41275" cy="333375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024255">
                  <a:buFont typeface="Arial" panose="020B0604020202020204" pitchFamily="34" charset="0"/>
                  <a:buNone/>
                </a:pPr>
                <a:endParaRPr lang="zh-CN" altLang="en-US" sz="2000"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0" name="Rectangle 18"/>
              <p:cNvSpPr/>
              <p:nvPr userDrawn="1"/>
            </p:nvSpPr>
            <p:spPr bwMode="auto">
              <a:xfrm>
                <a:off x="1997075" y="685800"/>
                <a:ext cx="41275" cy="4921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024255">
                  <a:buFont typeface="Arial" panose="020B0604020202020204" pitchFamily="34" charset="0"/>
                  <a:buNone/>
                </a:pPr>
                <a:endParaRPr lang="zh-CN" altLang="en-US" sz="2000"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1" name="Freeform 19"/>
              <p:cNvSpPr/>
              <p:nvPr userDrawn="1"/>
            </p:nvSpPr>
            <p:spPr bwMode="auto">
              <a:xfrm>
                <a:off x="338137" y="661988"/>
                <a:ext cx="188913" cy="333375"/>
              </a:xfrm>
              <a:custGeom>
                <a:avLst/>
                <a:gdLst>
                  <a:gd name="T0" fmla="*/ 0 w 50"/>
                  <a:gd name="T1" fmla="*/ 0 h 88"/>
                  <a:gd name="T2" fmla="*/ 50 w 50"/>
                  <a:gd name="T3" fmla="*/ 88 h 88"/>
                </a:gdLst>
                <a:ahLst/>
                <a:cxnLst>
                  <a:cxn ang="0">
                    <a:pos x="34" y="29"/>
                  </a:cxn>
                  <a:cxn ang="0">
                    <a:pos x="12" y="35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88"/>
                  </a:cxn>
                  <a:cxn ang="0">
                    <a:pos x="12" y="88"/>
                  </a:cxn>
                  <a:cxn ang="0">
                    <a:pos x="12" y="48"/>
                  </a:cxn>
                  <a:cxn ang="0">
                    <a:pos x="30" y="38"/>
                  </a:cxn>
                  <a:cxn ang="0">
                    <a:pos x="37" y="50"/>
                  </a:cxn>
                  <a:cxn ang="0">
                    <a:pos x="37" y="88"/>
                  </a:cxn>
                  <a:cxn ang="0">
                    <a:pos x="48" y="88"/>
                  </a:cxn>
                  <a:cxn ang="0">
                    <a:pos x="48" y="50"/>
                  </a:cxn>
                  <a:cxn ang="0">
                    <a:pos x="34" y="29"/>
                  </a:cxn>
                </a:cxnLst>
                <a:rect l="T0" t="T1" r="T2" b="T3"/>
                <a:pathLst>
                  <a:path w="50" h="88">
                    <a:moveTo>
                      <a:pt x="34" y="29"/>
                    </a:moveTo>
                    <a:cubicBezTo>
                      <a:pt x="34" y="29"/>
                      <a:pt x="21" y="25"/>
                      <a:pt x="12" y="35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12" y="88"/>
                      <a:pt x="12" y="88"/>
                      <a:pt x="12" y="88"/>
                    </a:cubicBezTo>
                    <a:cubicBezTo>
                      <a:pt x="12" y="48"/>
                      <a:pt x="12" y="48"/>
                      <a:pt x="12" y="48"/>
                    </a:cubicBezTo>
                    <a:cubicBezTo>
                      <a:pt x="14" y="44"/>
                      <a:pt x="19" y="36"/>
                      <a:pt x="30" y="38"/>
                    </a:cubicBezTo>
                    <a:cubicBezTo>
                      <a:pt x="30" y="38"/>
                      <a:pt x="37" y="39"/>
                      <a:pt x="37" y="50"/>
                    </a:cubicBezTo>
                    <a:cubicBezTo>
                      <a:pt x="37" y="61"/>
                      <a:pt x="37" y="88"/>
                      <a:pt x="37" y="88"/>
                    </a:cubicBezTo>
                    <a:cubicBezTo>
                      <a:pt x="48" y="88"/>
                      <a:pt x="48" y="88"/>
                      <a:pt x="48" y="88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0"/>
                      <a:pt x="50" y="32"/>
                      <a:pt x="34" y="29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024255" eaLnBrk="0" hangingPunct="0">
                  <a:buFont typeface="Arial" panose="020B0604020202020204" pitchFamily="34" charset="0"/>
                  <a:buNone/>
                </a:pPr>
                <a:endParaRPr lang="zh-CN" altLang="en-US" sz="20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Freeform 20"/>
              <p:cNvSpPr/>
              <p:nvPr userDrawn="1"/>
            </p:nvSpPr>
            <p:spPr bwMode="auto">
              <a:xfrm>
                <a:off x="654050" y="757238"/>
                <a:ext cx="188913" cy="238125"/>
              </a:xfrm>
              <a:custGeom>
                <a:avLst/>
                <a:gdLst>
                  <a:gd name="T0" fmla="*/ 0 w 50"/>
                  <a:gd name="T1" fmla="*/ 0 h 63"/>
                  <a:gd name="T2" fmla="*/ 50 w 50"/>
                  <a:gd name="T3" fmla="*/ 63 h 63"/>
                </a:gdLst>
                <a:ahLst/>
                <a:cxnLst>
                  <a:cxn ang="0">
                    <a:pos x="34" y="4"/>
                  </a:cxn>
                  <a:cxn ang="0">
                    <a:pos x="11" y="11"/>
                  </a:cxn>
                  <a:cxn ang="0">
                    <a:pos x="9" y="4"/>
                  </a:cxn>
                  <a:cxn ang="0">
                    <a:pos x="0" y="4"/>
                  </a:cxn>
                  <a:cxn ang="0">
                    <a:pos x="0" y="63"/>
                  </a:cxn>
                  <a:cxn ang="0">
                    <a:pos x="11" y="63"/>
                  </a:cxn>
                  <a:cxn ang="0">
                    <a:pos x="11" y="23"/>
                  </a:cxn>
                  <a:cxn ang="0">
                    <a:pos x="11" y="23"/>
                  </a:cxn>
                  <a:cxn ang="0">
                    <a:pos x="30" y="13"/>
                  </a:cxn>
                  <a:cxn ang="0">
                    <a:pos x="36" y="25"/>
                  </a:cxn>
                  <a:cxn ang="0">
                    <a:pos x="36" y="63"/>
                  </a:cxn>
                  <a:cxn ang="0">
                    <a:pos x="48" y="63"/>
                  </a:cxn>
                  <a:cxn ang="0">
                    <a:pos x="48" y="25"/>
                  </a:cxn>
                  <a:cxn ang="0">
                    <a:pos x="34" y="4"/>
                  </a:cxn>
                </a:cxnLst>
                <a:rect l="T0" t="T1" r="T2" b="T3"/>
                <a:pathLst>
                  <a:path w="50" h="63">
                    <a:moveTo>
                      <a:pt x="34" y="4"/>
                    </a:moveTo>
                    <a:cubicBezTo>
                      <a:pt x="34" y="4"/>
                      <a:pt x="20" y="0"/>
                      <a:pt x="11" y="11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11" y="63"/>
                      <a:pt x="11" y="63"/>
                      <a:pt x="11" y="6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3" y="20"/>
                      <a:pt x="19" y="12"/>
                      <a:pt x="30" y="13"/>
                    </a:cubicBezTo>
                    <a:cubicBezTo>
                      <a:pt x="30" y="13"/>
                      <a:pt x="36" y="14"/>
                      <a:pt x="36" y="25"/>
                    </a:cubicBezTo>
                    <a:cubicBezTo>
                      <a:pt x="36" y="36"/>
                      <a:pt x="36" y="63"/>
                      <a:pt x="36" y="63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48" y="25"/>
                      <a:pt x="48" y="25"/>
                      <a:pt x="48" y="25"/>
                    </a:cubicBezTo>
                    <a:cubicBezTo>
                      <a:pt x="48" y="25"/>
                      <a:pt x="50" y="7"/>
                      <a:pt x="34" y="4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024255" eaLnBrk="0" hangingPunct="0">
                  <a:buFont typeface="Arial" panose="020B0604020202020204" pitchFamily="34" charset="0"/>
                  <a:buNone/>
                </a:pPr>
                <a:endParaRPr lang="zh-CN" altLang="en-US" sz="20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Freeform 21"/>
              <p:cNvSpPr/>
              <p:nvPr userDrawn="1"/>
            </p:nvSpPr>
            <p:spPr bwMode="auto">
              <a:xfrm>
                <a:off x="846137" y="754063"/>
                <a:ext cx="203200" cy="249238"/>
              </a:xfrm>
              <a:custGeom>
                <a:avLst/>
                <a:gdLst>
                  <a:gd name="T0" fmla="*/ 0 w 54"/>
                  <a:gd name="T1" fmla="*/ 0 h 66"/>
                  <a:gd name="T2" fmla="*/ 54 w 54"/>
                  <a:gd name="T3" fmla="*/ 66 h 66"/>
                </a:gdLst>
                <a:ahLst/>
                <a:cxnLst>
                  <a:cxn ang="0">
                    <a:pos x="39" y="6"/>
                  </a:cxn>
                  <a:cxn ang="0">
                    <a:pos x="10" y="7"/>
                  </a:cxn>
                  <a:cxn ang="0">
                    <a:pos x="10" y="18"/>
                  </a:cxn>
                  <a:cxn ang="0">
                    <a:pos x="41" y="29"/>
                  </a:cxn>
                  <a:cxn ang="0">
                    <a:pos x="41" y="29"/>
                  </a:cxn>
                  <a:cxn ang="0">
                    <a:pos x="15" y="30"/>
                  </a:cxn>
                  <a:cxn ang="0">
                    <a:pos x="7" y="54"/>
                  </a:cxn>
                  <a:cxn ang="0">
                    <a:pos x="25" y="66"/>
                  </a:cxn>
                  <a:cxn ang="0">
                    <a:pos x="42" y="59"/>
                  </a:cxn>
                  <a:cxn ang="0">
                    <a:pos x="42" y="64"/>
                  </a:cxn>
                  <a:cxn ang="0">
                    <a:pos x="53" y="64"/>
                  </a:cxn>
                  <a:cxn ang="0">
                    <a:pos x="53" y="27"/>
                  </a:cxn>
                  <a:cxn ang="0">
                    <a:pos x="39" y="6"/>
                  </a:cxn>
                  <a:cxn ang="0">
                    <a:pos x="41" y="49"/>
                  </a:cxn>
                  <a:cxn ang="0">
                    <a:pos x="25" y="55"/>
                  </a:cxn>
                  <a:cxn ang="0">
                    <a:pos x="17" y="45"/>
                  </a:cxn>
                  <a:cxn ang="0">
                    <a:pos x="41" y="39"/>
                  </a:cxn>
                  <a:cxn ang="0">
                    <a:pos x="41" y="49"/>
                  </a:cxn>
                </a:cxnLst>
                <a:rect l="T0" t="T1" r="T2" b="T3"/>
                <a:pathLst>
                  <a:path w="54" h="66">
                    <a:moveTo>
                      <a:pt x="39" y="6"/>
                    </a:moveTo>
                    <a:cubicBezTo>
                      <a:pt x="25" y="0"/>
                      <a:pt x="10" y="7"/>
                      <a:pt x="10" y="7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18"/>
                      <a:pt x="41" y="4"/>
                      <a:pt x="41" y="29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24" y="24"/>
                      <a:pt x="15" y="30"/>
                    </a:cubicBezTo>
                    <a:cubicBezTo>
                      <a:pt x="15" y="30"/>
                      <a:pt x="0" y="38"/>
                      <a:pt x="7" y="54"/>
                    </a:cubicBezTo>
                    <a:cubicBezTo>
                      <a:pt x="7" y="54"/>
                      <a:pt x="12" y="66"/>
                      <a:pt x="25" y="66"/>
                    </a:cubicBezTo>
                    <a:cubicBezTo>
                      <a:pt x="30" y="65"/>
                      <a:pt x="35" y="64"/>
                      <a:pt x="42" y="59"/>
                    </a:cubicBezTo>
                    <a:cubicBezTo>
                      <a:pt x="42" y="64"/>
                      <a:pt x="42" y="64"/>
                      <a:pt x="42" y="64"/>
                    </a:cubicBezTo>
                    <a:cubicBezTo>
                      <a:pt x="53" y="64"/>
                      <a:pt x="53" y="64"/>
                      <a:pt x="53" y="64"/>
                    </a:cubicBezTo>
                    <a:cubicBezTo>
                      <a:pt x="53" y="27"/>
                      <a:pt x="53" y="27"/>
                      <a:pt x="53" y="27"/>
                    </a:cubicBezTo>
                    <a:cubicBezTo>
                      <a:pt x="53" y="27"/>
                      <a:pt x="54" y="11"/>
                      <a:pt x="39" y="6"/>
                    </a:cubicBezTo>
                    <a:close/>
                    <a:moveTo>
                      <a:pt x="41" y="49"/>
                    </a:moveTo>
                    <a:cubicBezTo>
                      <a:pt x="41" y="49"/>
                      <a:pt x="35" y="55"/>
                      <a:pt x="25" y="55"/>
                    </a:cubicBezTo>
                    <a:cubicBezTo>
                      <a:pt x="25" y="55"/>
                      <a:pt x="16" y="54"/>
                      <a:pt x="17" y="45"/>
                    </a:cubicBezTo>
                    <a:cubicBezTo>
                      <a:pt x="18" y="35"/>
                      <a:pt x="31" y="36"/>
                      <a:pt x="41" y="39"/>
                    </a:cubicBezTo>
                    <a:lnTo>
                      <a:pt x="41" y="49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024255" eaLnBrk="0" hangingPunct="0">
                  <a:buFont typeface="Arial" panose="020B0604020202020204" pitchFamily="34" charset="0"/>
                  <a:buNone/>
                </a:pPr>
                <a:endParaRPr lang="zh-CN" altLang="en-US" sz="20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Freeform 22"/>
              <p:cNvSpPr/>
              <p:nvPr userDrawn="1"/>
            </p:nvSpPr>
            <p:spPr bwMode="auto">
              <a:xfrm>
                <a:off x="1173162" y="685800"/>
                <a:ext cx="304800" cy="309563"/>
              </a:xfrm>
              <a:custGeom>
                <a:avLst/>
                <a:gdLst>
                  <a:gd name="T0" fmla="*/ 0 w 192"/>
                  <a:gd name="T1" fmla="*/ 0 h 195"/>
                  <a:gd name="T2" fmla="*/ 192 w 192"/>
                  <a:gd name="T3" fmla="*/ 195 h 195"/>
                </a:gdLst>
                <a:ahLst/>
                <a:cxnLst>
                  <a:cxn ang="0">
                    <a:pos x="95" y="143"/>
                  </a:cxn>
                  <a:cxn ang="0">
                    <a:pos x="36" y="0"/>
                  </a:cxn>
                  <a:cxn ang="0">
                    <a:pos x="0" y="0"/>
                  </a:cxn>
                  <a:cxn ang="0">
                    <a:pos x="0" y="195"/>
                  </a:cxn>
                  <a:cxn ang="0">
                    <a:pos x="26" y="195"/>
                  </a:cxn>
                  <a:cxn ang="0">
                    <a:pos x="26" y="47"/>
                  </a:cxn>
                  <a:cxn ang="0">
                    <a:pos x="88" y="195"/>
                  </a:cxn>
                  <a:cxn ang="0">
                    <a:pos x="102" y="195"/>
                  </a:cxn>
                  <a:cxn ang="0">
                    <a:pos x="164" y="47"/>
                  </a:cxn>
                  <a:cxn ang="0">
                    <a:pos x="164" y="195"/>
                  </a:cxn>
                  <a:cxn ang="0">
                    <a:pos x="192" y="195"/>
                  </a:cxn>
                  <a:cxn ang="0">
                    <a:pos x="192" y="0"/>
                  </a:cxn>
                  <a:cxn ang="0">
                    <a:pos x="157" y="0"/>
                  </a:cxn>
                  <a:cxn ang="0">
                    <a:pos x="95" y="143"/>
                  </a:cxn>
                </a:cxnLst>
                <a:rect l="T0" t="T1" r="T2" b="T3"/>
                <a:pathLst>
                  <a:path w="192" h="195">
                    <a:moveTo>
                      <a:pt x="95" y="143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195"/>
                    </a:lnTo>
                    <a:lnTo>
                      <a:pt x="26" y="195"/>
                    </a:lnTo>
                    <a:lnTo>
                      <a:pt x="26" y="47"/>
                    </a:lnTo>
                    <a:lnTo>
                      <a:pt x="88" y="195"/>
                    </a:lnTo>
                    <a:lnTo>
                      <a:pt x="102" y="195"/>
                    </a:lnTo>
                    <a:lnTo>
                      <a:pt x="164" y="47"/>
                    </a:lnTo>
                    <a:lnTo>
                      <a:pt x="164" y="195"/>
                    </a:lnTo>
                    <a:lnTo>
                      <a:pt x="192" y="195"/>
                    </a:lnTo>
                    <a:lnTo>
                      <a:pt x="192" y="0"/>
                    </a:lnTo>
                    <a:lnTo>
                      <a:pt x="157" y="0"/>
                    </a:lnTo>
                    <a:lnTo>
                      <a:pt x="95" y="143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024255" eaLnBrk="0" hangingPunct="0">
                  <a:buFont typeface="Arial" panose="020B0604020202020204" pitchFamily="34" charset="0"/>
                  <a:buNone/>
                </a:pPr>
                <a:endParaRPr lang="zh-CN" altLang="en-US" sz="20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Freeform 23"/>
              <p:cNvSpPr/>
              <p:nvPr userDrawn="1"/>
            </p:nvSpPr>
            <p:spPr bwMode="auto">
              <a:xfrm>
                <a:off x="1508125" y="768350"/>
                <a:ext cx="230188" cy="231775"/>
              </a:xfrm>
              <a:custGeom>
                <a:avLst/>
                <a:gdLst>
                  <a:gd name="T0" fmla="*/ 0 w 61"/>
                  <a:gd name="T1" fmla="*/ 0 h 61"/>
                  <a:gd name="T2" fmla="*/ 61 w 61"/>
                  <a:gd name="T3" fmla="*/ 61 h 61"/>
                </a:gdLst>
                <a:ahLst/>
                <a:cxnLst>
                  <a:cxn ang="0">
                    <a:pos x="31" y="0"/>
                  </a:cxn>
                  <a:cxn ang="0">
                    <a:pos x="0" y="30"/>
                  </a:cxn>
                  <a:cxn ang="0">
                    <a:pos x="31" y="61"/>
                  </a:cxn>
                  <a:cxn ang="0">
                    <a:pos x="61" y="30"/>
                  </a:cxn>
                  <a:cxn ang="0">
                    <a:pos x="31" y="0"/>
                  </a:cxn>
                  <a:cxn ang="0">
                    <a:pos x="31" y="51"/>
                  </a:cxn>
                  <a:cxn ang="0">
                    <a:pos x="10" y="30"/>
                  </a:cxn>
                  <a:cxn ang="0">
                    <a:pos x="31" y="10"/>
                  </a:cxn>
                  <a:cxn ang="0">
                    <a:pos x="51" y="30"/>
                  </a:cxn>
                  <a:cxn ang="0">
                    <a:pos x="31" y="51"/>
                  </a:cxn>
                </a:cxnLst>
                <a:rect l="T0" t="T1" r="T2" b="T3"/>
                <a:pathLst>
                  <a:path w="61" h="61">
                    <a:moveTo>
                      <a:pt x="31" y="0"/>
                    </a:moveTo>
                    <a:cubicBezTo>
                      <a:pt x="14" y="0"/>
                      <a:pt x="0" y="13"/>
                      <a:pt x="0" y="30"/>
                    </a:cubicBezTo>
                    <a:cubicBezTo>
                      <a:pt x="0" y="47"/>
                      <a:pt x="14" y="61"/>
                      <a:pt x="31" y="61"/>
                    </a:cubicBezTo>
                    <a:cubicBezTo>
                      <a:pt x="47" y="61"/>
                      <a:pt x="61" y="47"/>
                      <a:pt x="61" y="30"/>
                    </a:cubicBezTo>
                    <a:cubicBezTo>
                      <a:pt x="61" y="13"/>
                      <a:pt x="47" y="0"/>
                      <a:pt x="31" y="0"/>
                    </a:cubicBezTo>
                    <a:close/>
                    <a:moveTo>
                      <a:pt x="31" y="51"/>
                    </a:moveTo>
                    <a:cubicBezTo>
                      <a:pt x="19" y="51"/>
                      <a:pt x="10" y="42"/>
                      <a:pt x="10" y="30"/>
                    </a:cubicBezTo>
                    <a:cubicBezTo>
                      <a:pt x="10" y="19"/>
                      <a:pt x="19" y="10"/>
                      <a:pt x="31" y="10"/>
                    </a:cubicBezTo>
                    <a:cubicBezTo>
                      <a:pt x="42" y="10"/>
                      <a:pt x="51" y="19"/>
                      <a:pt x="51" y="30"/>
                    </a:cubicBezTo>
                    <a:cubicBezTo>
                      <a:pt x="51" y="42"/>
                      <a:pt x="42" y="51"/>
                      <a:pt x="31" y="51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024255" eaLnBrk="0" hangingPunct="0">
                  <a:buFont typeface="Arial" panose="020B0604020202020204" pitchFamily="34" charset="0"/>
                  <a:buNone/>
                </a:pPr>
                <a:endParaRPr lang="zh-CN" altLang="en-US" sz="20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Freeform 24"/>
              <p:cNvSpPr/>
              <p:nvPr userDrawn="1"/>
            </p:nvSpPr>
            <p:spPr bwMode="auto">
              <a:xfrm>
                <a:off x="1768475" y="661988"/>
                <a:ext cx="198438" cy="341313"/>
              </a:xfrm>
              <a:custGeom>
                <a:avLst/>
                <a:gdLst>
                  <a:gd name="T0" fmla="*/ 0 w 53"/>
                  <a:gd name="T1" fmla="*/ 0 h 90"/>
                  <a:gd name="T2" fmla="*/ 53 w 53"/>
                  <a:gd name="T3" fmla="*/ 90 h 90"/>
                </a:gdLst>
                <a:ahLst/>
                <a:cxnLst>
                  <a:cxn ang="0">
                    <a:pos x="37" y="30"/>
                  </a:cxn>
                  <a:cxn ang="0">
                    <a:pos x="12" y="3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88"/>
                  </a:cxn>
                  <a:cxn ang="0">
                    <a:pos x="9" y="88"/>
                  </a:cxn>
                  <a:cxn ang="0">
                    <a:pos x="10" y="83"/>
                  </a:cxn>
                  <a:cxn ang="0">
                    <a:pos x="25" y="90"/>
                  </a:cxn>
                  <a:cxn ang="0">
                    <a:pos x="43" y="81"/>
                  </a:cxn>
                  <a:cxn ang="0">
                    <a:pos x="51" y="64"/>
                  </a:cxn>
                  <a:cxn ang="0">
                    <a:pos x="37" y="30"/>
                  </a:cxn>
                  <a:cxn ang="0">
                    <a:pos x="26" y="79"/>
                  </a:cxn>
                  <a:cxn ang="0">
                    <a:pos x="12" y="73"/>
                  </a:cxn>
                  <a:cxn ang="0">
                    <a:pos x="12" y="44"/>
                  </a:cxn>
                  <a:cxn ang="0">
                    <a:pos x="25" y="38"/>
                  </a:cxn>
                  <a:cxn ang="0">
                    <a:pos x="39" y="55"/>
                  </a:cxn>
                  <a:cxn ang="0">
                    <a:pos x="26" y="79"/>
                  </a:cxn>
                </a:cxnLst>
                <a:rect l="T0" t="T1" r="T2" b="T3"/>
                <a:pathLst>
                  <a:path w="53" h="90">
                    <a:moveTo>
                      <a:pt x="37" y="30"/>
                    </a:moveTo>
                    <a:cubicBezTo>
                      <a:pt x="22" y="23"/>
                      <a:pt x="12" y="34"/>
                      <a:pt x="12" y="34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9" y="88"/>
                      <a:pt x="9" y="88"/>
                      <a:pt x="9" y="88"/>
                    </a:cubicBezTo>
                    <a:cubicBezTo>
                      <a:pt x="10" y="83"/>
                      <a:pt x="10" y="83"/>
                      <a:pt x="10" y="83"/>
                    </a:cubicBezTo>
                    <a:cubicBezTo>
                      <a:pt x="16" y="89"/>
                      <a:pt x="25" y="90"/>
                      <a:pt x="25" y="90"/>
                    </a:cubicBezTo>
                    <a:cubicBezTo>
                      <a:pt x="33" y="90"/>
                      <a:pt x="39" y="86"/>
                      <a:pt x="43" y="81"/>
                    </a:cubicBezTo>
                    <a:cubicBezTo>
                      <a:pt x="48" y="76"/>
                      <a:pt x="51" y="68"/>
                      <a:pt x="51" y="64"/>
                    </a:cubicBezTo>
                    <a:cubicBezTo>
                      <a:pt x="53" y="55"/>
                      <a:pt x="52" y="38"/>
                      <a:pt x="37" y="30"/>
                    </a:cubicBezTo>
                    <a:close/>
                    <a:moveTo>
                      <a:pt x="26" y="79"/>
                    </a:moveTo>
                    <a:cubicBezTo>
                      <a:pt x="15" y="79"/>
                      <a:pt x="12" y="73"/>
                      <a:pt x="12" y="73"/>
                    </a:cubicBezTo>
                    <a:cubicBezTo>
                      <a:pt x="12" y="44"/>
                      <a:pt x="12" y="44"/>
                      <a:pt x="12" y="44"/>
                    </a:cubicBezTo>
                    <a:cubicBezTo>
                      <a:pt x="12" y="44"/>
                      <a:pt x="17" y="38"/>
                      <a:pt x="25" y="38"/>
                    </a:cubicBezTo>
                    <a:cubicBezTo>
                      <a:pt x="34" y="38"/>
                      <a:pt x="38" y="45"/>
                      <a:pt x="39" y="55"/>
                    </a:cubicBezTo>
                    <a:cubicBezTo>
                      <a:pt x="41" y="65"/>
                      <a:pt x="38" y="79"/>
                      <a:pt x="26" y="79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024255" eaLnBrk="0" hangingPunct="0">
                  <a:buFont typeface="Arial" panose="020B0604020202020204" pitchFamily="34" charset="0"/>
                  <a:buNone/>
                </a:pPr>
                <a:endParaRPr lang="zh-CN" altLang="en-US" sz="20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" name="Freeform 25"/>
              <p:cNvSpPr/>
              <p:nvPr userDrawn="1"/>
            </p:nvSpPr>
            <p:spPr bwMode="auto">
              <a:xfrm>
                <a:off x="2147887" y="765175"/>
                <a:ext cx="206375" cy="238125"/>
              </a:xfrm>
              <a:custGeom>
                <a:avLst/>
                <a:gdLst>
                  <a:gd name="T0" fmla="*/ 0 w 55"/>
                  <a:gd name="T1" fmla="*/ 0 h 63"/>
                  <a:gd name="T2" fmla="*/ 55 w 55"/>
                  <a:gd name="T3" fmla="*/ 63 h 63"/>
                </a:gdLst>
                <a:ahLst/>
                <a:cxnLst>
                  <a:cxn ang="0">
                    <a:pos x="48" y="9"/>
                  </a:cxn>
                  <a:cxn ang="0">
                    <a:pos x="30" y="1"/>
                  </a:cxn>
                  <a:cxn ang="0">
                    <a:pos x="14" y="7"/>
                  </a:cxn>
                  <a:cxn ang="0">
                    <a:pos x="5" y="21"/>
                  </a:cxn>
                  <a:cxn ang="0">
                    <a:pos x="10" y="53"/>
                  </a:cxn>
                  <a:cxn ang="0">
                    <a:pos x="30" y="62"/>
                  </a:cxn>
                  <a:cxn ang="0">
                    <a:pos x="52" y="59"/>
                  </a:cxn>
                  <a:cxn ang="0">
                    <a:pos x="52" y="49"/>
                  </a:cxn>
                  <a:cxn ang="0">
                    <a:pos x="15" y="35"/>
                  </a:cxn>
                  <a:cxn ang="0">
                    <a:pos x="54" y="35"/>
                  </a:cxn>
                  <a:cxn ang="0">
                    <a:pos x="48" y="9"/>
                  </a:cxn>
                  <a:cxn ang="0">
                    <a:pos x="16" y="25"/>
                  </a:cxn>
                  <a:cxn ang="0">
                    <a:pos x="30" y="11"/>
                  </a:cxn>
                  <a:cxn ang="0">
                    <a:pos x="42" y="25"/>
                  </a:cxn>
                  <a:cxn ang="0">
                    <a:pos x="16" y="25"/>
                  </a:cxn>
                </a:cxnLst>
                <a:rect l="T0" t="T1" r="T2" b="T3"/>
                <a:pathLst>
                  <a:path w="55" h="63">
                    <a:moveTo>
                      <a:pt x="48" y="9"/>
                    </a:moveTo>
                    <a:cubicBezTo>
                      <a:pt x="42" y="0"/>
                      <a:pt x="30" y="1"/>
                      <a:pt x="30" y="1"/>
                    </a:cubicBezTo>
                    <a:cubicBezTo>
                      <a:pt x="24" y="1"/>
                      <a:pt x="18" y="4"/>
                      <a:pt x="14" y="7"/>
                    </a:cubicBezTo>
                    <a:cubicBezTo>
                      <a:pt x="7" y="13"/>
                      <a:pt x="5" y="21"/>
                      <a:pt x="5" y="21"/>
                    </a:cubicBezTo>
                    <a:cubicBezTo>
                      <a:pt x="0" y="41"/>
                      <a:pt x="10" y="53"/>
                      <a:pt x="10" y="53"/>
                    </a:cubicBezTo>
                    <a:cubicBezTo>
                      <a:pt x="14" y="59"/>
                      <a:pt x="23" y="62"/>
                      <a:pt x="30" y="62"/>
                    </a:cubicBezTo>
                    <a:cubicBezTo>
                      <a:pt x="43" y="63"/>
                      <a:pt x="52" y="59"/>
                      <a:pt x="52" y="59"/>
                    </a:cubicBezTo>
                    <a:cubicBezTo>
                      <a:pt x="52" y="49"/>
                      <a:pt x="52" y="49"/>
                      <a:pt x="52" y="49"/>
                    </a:cubicBezTo>
                    <a:cubicBezTo>
                      <a:pt x="16" y="61"/>
                      <a:pt x="15" y="35"/>
                      <a:pt x="15" y="35"/>
                    </a:cubicBezTo>
                    <a:cubicBezTo>
                      <a:pt x="54" y="35"/>
                      <a:pt x="54" y="35"/>
                      <a:pt x="54" y="35"/>
                    </a:cubicBezTo>
                    <a:cubicBezTo>
                      <a:pt x="55" y="22"/>
                      <a:pt x="52" y="14"/>
                      <a:pt x="48" y="9"/>
                    </a:cubicBezTo>
                    <a:close/>
                    <a:moveTo>
                      <a:pt x="16" y="25"/>
                    </a:moveTo>
                    <a:cubicBezTo>
                      <a:pt x="16" y="25"/>
                      <a:pt x="19" y="11"/>
                      <a:pt x="30" y="11"/>
                    </a:cubicBezTo>
                    <a:cubicBezTo>
                      <a:pt x="42" y="11"/>
                      <a:pt x="42" y="25"/>
                      <a:pt x="42" y="25"/>
                    </a:cubicBezTo>
                    <a:lnTo>
                      <a:pt x="16" y="25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024255" eaLnBrk="0" hangingPunct="0">
                  <a:buFont typeface="Arial" panose="020B0604020202020204" pitchFamily="34" charset="0"/>
                  <a:buNone/>
                </a:pPr>
                <a:endParaRPr lang="zh-CN" altLang="en-US" sz="20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" name="Freeform 26"/>
              <p:cNvSpPr/>
              <p:nvPr userDrawn="1"/>
            </p:nvSpPr>
            <p:spPr bwMode="auto">
              <a:xfrm>
                <a:off x="0" y="677863"/>
                <a:ext cx="304800" cy="322263"/>
              </a:xfrm>
              <a:custGeom>
                <a:avLst/>
                <a:gdLst>
                  <a:gd name="T0" fmla="*/ 0 w 81"/>
                  <a:gd name="T1" fmla="*/ 0 h 85"/>
                  <a:gd name="T2" fmla="*/ 81 w 81"/>
                  <a:gd name="T3" fmla="*/ 85 h 85"/>
                </a:gdLst>
                <a:ahLst/>
                <a:cxnLst>
                  <a:cxn ang="0">
                    <a:pos x="41" y="74"/>
                  </a:cxn>
                  <a:cxn ang="0">
                    <a:pos x="11" y="43"/>
                  </a:cxn>
                  <a:cxn ang="0">
                    <a:pos x="41" y="11"/>
                  </a:cxn>
                  <a:cxn ang="0">
                    <a:pos x="68" y="27"/>
                  </a:cxn>
                  <a:cxn ang="0">
                    <a:pos x="81" y="27"/>
                  </a:cxn>
                  <a:cxn ang="0">
                    <a:pos x="42" y="0"/>
                  </a:cxn>
                  <a:cxn ang="0">
                    <a:pos x="0" y="43"/>
                  </a:cxn>
                  <a:cxn ang="0">
                    <a:pos x="42" y="85"/>
                  </a:cxn>
                  <a:cxn ang="0">
                    <a:pos x="81" y="57"/>
                  </a:cxn>
                  <a:cxn ang="0">
                    <a:pos x="69" y="57"/>
                  </a:cxn>
                  <a:cxn ang="0">
                    <a:pos x="41" y="74"/>
                  </a:cxn>
                </a:cxnLst>
                <a:rect l="T0" t="T1" r="T2" b="T3"/>
                <a:pathLst>
                  <a:path w="81" h="85">
                    <a:moveTo>
                      <a:pt x="41" y="74"/>
                    </a:moveTo>
                    <a:cubicBezTo>
                      <a:pt x="24" y="74"/>
                      <a:pt x="11" y="60"/>
                      <a:pt x="11" y="43"/>
                    </a:cubicBezTo>
                    <a:cubicBezTo>
                      <a:pt x="11" y="25"/>
                      <a:pt x="24" y="11"/>
                      <a:pt x="41" y="11"/>
                    </a:cubicBezTo>
                    <a:cubicBezTo>
                      <a:pt x="53" y="11"/>
                      <a:pt x="63" y="18"/>
                      <a:pt x="68" y="27"/>
                    </a:cubicBezTo>
                    <a:cubicBezTo>
                      <a:pt x="81" y="27"/>
                      <a:pt x="81" y="27"/>
                      <a:pt x="81" y="27"/>
                    </a:cubicBezTo>
                    <a:cubicBezTo>
                      <a:pt x="75" y="11"/>
                      <a:pt x="59" y="0"/>
                      <a:pt x="42" y="0"/>
                    </a:cubicBezTo>
                    <a:cubicBezTo>
                      <a:pt x="18" y="0"/>
                      <a:pt x="0" y="19"/>
                      <a:pt x="0" y="43"/>
                    </a:cubicBezTo>
                    <a:cubicBezTo>
                      <a:pt x="0" y="66"/>
                      <a:pt x="18" y="85"/>
                      <a:pt x="42" y="85"/>
                    </a:cubicBezTo>
                    <a:cubicBezTo>
                      <a:pt x="60" y="85"/>
                      <a:pt x="75" y="73"/>
                      <a:pt x="81" y="57"/>
                    </a:cubicBezTo>
                    <a:cubicBezTo>
                      <a:pt x="69" y="57"/>
                      <a:pt x="69" y="57"/>
                      <a:pt x="69" y="57"/>
                    </a:cubicBezTo>
                    <a:cubicBezTo>
                      <a:pt x="63" y="67"/>
                      <a:pt x="53" y="74"/>
                      <a:pt x="41" y="74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024255" eaLnBrk="0" hangingPunct="0">
                  <a:buFont typeface="Arial" panose="020B0604020202020204" pitchFamily="34" charset="0"/>
                  <a:buNone/>
                </a:pPr>
                <a:endParaRPr lang="zh-CN" altLang="en-US" sz="20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0" name="组合 9"/>
            <p:cNvGrpSpPr/>
            <p:nvPr userDrawn="1"/>
          </p:nvGrpSpPr>
          <p:grpSpPr bwMode="auto">
            <a:xfrm>
              <a:off x="0" y="0"/>
              <a:ext cx="1192213" cy="1209675"/>
              <a:chOff x="0" y="0"/>
              <a:chExt cx="1192213" cy="1209675"/>
            </a:xfrm>
          </p:grpSpPr>
          <p:sp>
            <p:nvSpPr>
              <p:cNvPr id="11" name="Freeform 27"/>
              <p:cNvSpPr/>
              <p:nvPr userDrawn="1"/>
            </p:nvSpPr>
            <p:spPr bwMode="auto">
              <a:xfrm>
                <a:off x="26988" y="339725"/>
                <a:ext cx="1139825" cy="511175"/>
              </a:xfrm>
              <a:custGeom>
                <a:avLst/>
                <a:gdLst>
                  <a:gd name="T0" fmla="*/ 0 w 303"/>
                  <a:gd name="T1" fmla="*/ 0 h 135"/>
                  <a:gd name="T2" fmla="*/ 303 w 303"/>
                  <a:gd name="T3" fmla="*/ 135 h 135"/>
                </a:gdLst>
                <a:ahLst/>
                <a:cxnLst>
                  <a:cxn ang="0">
                    <a:pos x="5" y="20"/>
                  </a:cxn>
                  <a:cxn ang="0">
                    <a:pos x="72" y="90"/>
                  </a:cxn>
                  <a:cxn ang="0">
                    <a:pos x="100" y="89"/>
                  </a:cxn>
                  <a:cxn ang="0">
                    <a:pos x="174" y="22"/>
                  </a:cxn>
                  <a:cxn ang="0">
                    <a:pos x="221" y="22"/>
                  </a:cxn>
                  <a:cxn ang="0">
                    <a:pos x="302" y="107"/>
                  </a:cxn>
                  <a:cxn ang="0">
                    <a:pos x="302" y="111"/>
                  </a:cxn>
                  <a:cxn ang="0">
                    <a:pos x="298" y="121"/>
                  </a:cxn>
                  <a:cxn ang="0">
                    <a:pos x="230" y="50"/>
                  </a:cxn>
                  <a:cxn ang="0">
                    <a:pos x="204" y="51"/>
                  </a:cxn>
                  <a:cxn ang="0">
                    <a:pos x="125" y="121"/>
                  </a:cxn>
                  <a:cxn ang="0">
                    <a:pos x="79" y="116"/>
                  </a:cxn>
                  <a:cxn ang="0">
                    <a:pos x="1" y="33"/>
                  </a:cxn>
                  <a:cxn ang="0">
                    <a:pos x="1" y="29"/>
                  </a:cxn>
                  <a:cxn ang="0">
                    <a:pos x="5" y="20"/>
                  </a:cxn>
                </a:cxnLst>
                <a:rect l="T0" t="T1" r="T2" b="T3"/>
                <a:pathLst>
                  <a:path w="303" h="135">
                    <a:moveTo>
                      <a:pt x="5" y="20"/>
                    </a:moveTo>
                    <a:cubicBezTo>
                      <a:pt x="5" y="20"/>
                      <a:pt x="37" y="62"/>
                      <a:pt x="72" y="90"/>
                    </a:cubicBezTo>
                    <a:cubicBezTo>
                      <a:pt x="72" y="90"/>
                      <a:pt x="86" y="102"/>
                      <a:pt x="100" y="89"/>
                    </a:cubicBezTo>
                    <a:cubicBezTo>
                      <a:pt x="114" y="76"/>
                      <a:pt x="174" y="22"/>
                      <a:pt x="174" y="22"/>
                    </a:cubicBezTo>
                    <a:cubicBezTo>
                      <a:pt x="174" y="22"/>
                      <a:pt x="196" y="0"/>
                      <a:pt x="221" y="22"/>
                    </a:cubicBezTo>
                    <a:cubicBezTo>
                      <a:pt x="221" y="22"/>
                      <a:pt x="273" y="68"/>
                      <a:pt x="302" y="107"/>
                    </a:cubicBezTo>
                    <a:cubicBezTo>
                      <a:pt x="302" y="107"/>
                      <a:pt x="303" y="109"/>
                      <a:pt x="302" y="111"/>
                    </a:cubicBezTo>
                    <a:cubicBezTo>
                      <a:pt x="300" y="114"/>
                      <a:pt x="298" y="121"/>
                      <a:pt x="298" y="121"/>
                    </a:cubicBezTo>
                    <a:cubicBezTo>
                      <a:pt x="298" y="121"/>
                      <a:pt x="266" y="80"/>
                      <a:pt x="230" y="50"/>
                    </a:cubicBezTo>
                    <a:cubicBezTo>
                      <a:pt x="230" y="50"/>
                      <a:pt x="216" y="39"/>
                      <a:pt x="204" y="51"/>
                    </a:cubicBezTo>
                    <a:cubicBezTo>
                      <a:pt x="192" y="62"/>
                      <a:pt x="134" y="115"/>
                      <a:pt x="125" y="121"/>
                    </a:cubicBezTo>
                    <a:cubicBezTo>
                      <a:pt x="116" y="128"/>
                      <a:pt x="101" y="135"/>
                      <a:pt x="79" y="116"/>
                    </a:cubicBezTo>
                    <a:cubicBezTo>
                      <a:pt x="62" y="101"/>
                      <a:pt x="18" y="60"/>
                      <a:pt x="1" y="33"/>
                    </a:cubicBezTo>
                    <a:cubicBezTo>
                      <a:pt x="1" y="33"/>
                      <a:pt x="0" y="32"/>
                      <a:pt x="1" y="29"/>
                    </a:cubicBezTo>
                    <a:cubicBezTo>
                      <a:pt x="2" y="26"/>
                      <a:pt x="5" y="20"/>
                      <a:pt x="5" y="2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024255" eaLnBrk="0" hangingPunct="0">
                  <a:buFont typeface="Arial" panose="020B0604020202020204" pitchFamily="34" charset="0"/>
                  <a:buNone/>
                </a:pPr>
                <a:endParaRPr lang="zh-CN" altLang="en-US" sz="20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" name="Freeform 28"/>
              <p:cNvSpPr/>
              <p:nvPr userDrawn="1"/>
            </p:nvSpPr>
            <p:spPr bwMode="auto">
              <a:xfrm>
                <a:off x="71438" y="0"/>
                <a:ext cx="1120775" cy="577850"/>
              </a:xfrm>
              <a:custGeom>
                <a:avLst/>
                <a:gdLst>
                  <a:gd name="T0" fmla="*/ 0 w 298"/>
                  <a:gd name="T1" fmla="*/ 0 h 153"/>
                  <a:gd name="T2" fmla="*/ 298 w 298"/>
                  <a:gd name="T3" fmla="*/ 153 h 153"/>
                </a:gdLst>
                <a:ahLst/>
                <a:cxnLst>
                  <a:cxn ang="0">
                    <a:pos x="0" y="97"/>
                  </a:cxn>
                  <a:cxn ang="0">
                    <a:pos x="18" y="117"/>
                  </a:cxn>
                  <a:cxn ang="0">
                    <a:pos x="24" y="116"/>
                  </a:cxn>
                  <a:cxn ang="0">
                    <a:pos x="107" y="43"/>
                  </a:cxn>
                  <a:cxn ang="0">
                    <a:pos x="147" y="27"/>
                  </a:cxn>
                  <a:cxn ang="0">
                    <a:pos x="182" y="33"/>
                  </a:cxn>
                  <a:cxn ang="0">
                    <a:pos x="237" y="77"/>
                  </a:cxn>
                  <a:cxn ang="0">
                    <a:pos x="276" y="123"/>
                  </a:cxn>
                  <a:cxn ang="0">
                    <a:pos x="297" y="153"/>
                  </a:cxn>
                  <a:cxn ang="0">
                    <a:pos x="292" y="129"/>
                  </a:cxn>
                  <a:cxn ang="0">
                    <a:pos x="224" y="44"/>
                  </a:cxn>
                  <a:cxn ang="0">
                    <a:pos x="144" y="2"/>
                  </a:cxn>
                  <a:cxn ang="0">
                    <a:pos x="78" y="26"/>
                  </a:cxn>
                  <a:cxn ang="0">
                    <a:pos x="0" y="97"/>
                  </a:cxn>
                </a:cxnLst>
                <a:rect l="T0" t="T1" r="T2" b="T3"/>
                <a:pathLst>
                  <a:path w="298" h="153">
                    <a:moveTo>
                      <a:pt x="0" y="97"/>
                    </a:moveTo>
                    <a:cubicBezTo>
                      <a:pt x="18" y="117"/>
                      <a:pt x="18" y="117"/>
                      <a:pt x="18" y="117"/>
                    </a:cubicBezTo>
                    <a:cubicBezTo>
                      <a:pt x="18" y="117"/>
                      <a:pt x="20" y="120"/>
                      <a:pt x="24" y="116"/>
                    </a:cubicBezTo>
                    <a:cubicBezTo>
                      <a:pt x="29" y="113"/>
                      <a:pt x="85" y="58"/>
                      <a:pt x="107" y="43"/>
                    </a:cubicBezTo>
                    <a:cubicBezTo>
                      <a:pt x="119" y="34"/>
                      <a:pt x="132" y="28"/>
                      <a:pt x="147" y="27"/>
                    </a:cubicBezTo>
                    <a:cubicBezTo>
                      <a:pt x="158" y="26"/>
                      <a:pt x="170" y="27"/>
                      <a:pt x="182" y="33"/>
                    </a:cubicBezTo>
                    <a:cubicBezTo>
                      <a:pt x="196" y="39"/>
                      <a:pt x="217" y="56"/>
                      <a:pt x="237" y="77"/>
                    </a:cubicBezTo>
                    <a:cubicBezTo>
                      <a:pt x="251" y="91"/>
                      <a:pt x="265" y="107"/>
                      <a:pt x="276" y="123"/>
                    </a:cubicBezTo>
                    <a:cubicBezTo>
                      <a:pt x="284" y="133"/>
                      <a:pt x="292" y="144"/>
                      <a:pt x="297" y="153"/>
                    </a:cubicBezTo>
                    <a:cubicBezTo>
                      <a:pt x="297" y="153"/>
                      <a:pt x="298" y="140"/>
                      <a:pt x="292" y="129"/>
                    </a:cubicBezTo>
                    <a:cubicBezTo>
                      <a:pt x="292" y="129"/>
                      <a:pt x="269" y="85"/>
                      <a:pt x="224" y="44"/>
                    </a:cubicBezTo>
                    <a:cubicBezTo>
                      <a:pt x="219" y="40"/>
                      <a:pt x="181" y="1"/>
                      <a:pt x="144" y="2"/>
                    </a:cubicBezTo>
                    <a:cubicBezTo>
                      <a:pt x="144" y="2"/>
                      <a:pt x="109" y="0"/>
                      <a:pt x="78" y="26"/>
                    </a:cubicBezTo>
                    <a:cubicBezTo>
                      <a:pt x="72" y="30"/>
                      <a:pt x="17" y="78"/>
                      <a:pt x="0" y="97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024255" eaLnBrk="0" hangingPunct="0">
                  <a:buFont typeface="Arial" panose="020B0604020202020204" pitchFamily="34" charset="0"/>
                  <a:buNone/>
                </a:pPr>
                <a:endParaRPr lang="zh-CN" altLang="en-US" sz="20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" name="Freeform 29"/>
              <p:cNvSpPr/>
              <p:nvPr userDrawn="1"/>
            </p:nvSpPr>
            <p:spPr bwMode="auto">
              <a:xfrm>
                <a:off x="217488" y="166687"/>
                <a:ext cx="974725" cy="528638"/>
              </a:xfrm>
              <a:custGeom>
                <a:avLst/>
                <a:gdLst>
                  <a:gd name="T0" fmla="*/ 0 w 259"/>
                  <a:gd name="T1" fmla="*/ 0 h 140"/>
                  <a:gd name="T2" fmla="*/ 259 w 259"/>
                  <a:gd name="T3" fmla="*/ 140 h 140"/>
                </a:gdLst>
                <a:ahLst/>
                <a:cxnLst>
                  <a:cxn ang="0">
                    <a:pos x="0" y="96"/>
                  </a:cxn>
                  <a:cxn ang="0">
                    <a:pos x="21" y="116"/>
                  </a:cxn>
                  <a:cxn ang="0">
                    <a:pos x="31" y="114"/>
                  </a:cxn>
                  <a:cxn ang="0">
                    <a:pos x="68" y="79"/>
                  </a:cxn>
                  <a:cxn ang="0">
                    <a:pos x="106" y="45"/>
                  </a:cxn>
                  <a:cxn ang="0">
                    <a:pos x="166" y="44"/>
                  </a:cxn>
                  <a:cxn ang="0">
                    <a:pos x="256" y="140"/>
                  </a:cxn>
                  <a:cxn ang="0">
                    <a:pos x="257" y="133"/>
                  </a:cxn>
                  <a:cxn ang="0">
                    <a:pos x="255" y="122"/>
                  </a:cxn>
                  <a:cxn ang="0">
                    <a:pos x="177" y="33"/>
                  </a:cxn>
                  <a:cxn ang="0">
                    <a:pos x="128" y="5"/>
                  </a:cxn>
                  <a:cxn ang="0">
                    <a:pos x="84" y="16"/>
                  </a:cxn>
                  <a:cxn ang="0">
                    <a:pos x="32" y="64"/>
                  </a:cxn>
                  <a:cxn ang="0">
                    <a:pos x="0" y="96"/>
                  </a:cxn>
                </a:cxnLst>
                <a:rect l="T0" t="T1" r="T2" b="T3"/>
                <a:pathLst>
                  <a:path w="259" h="140">
                    <a:moveTo>
                      <a:pt x="0" y="96"/>
                    </a:moveTo>
                    <a:cubicBezTo>
                      <a:pt x="21" y="116"/>
                      <a:pt x="21" y="116"/>
                      <a:pt x="21" y="116"/>
                    </a:cubicBezTo>
                    <a:cubicBezTo>
                      <a:pt x="21" y="116"/>
                      <a:pt x="26" y="119"/>
                      <a:pt x="31" y="114"/>
                    </a:cubicBezTo>
                    <a:cubicBezTo>
                      <a:pt x="31" y="114"/>
                      <a:pt x="51" y="95"/>
                      <a:pt x="68" y="79"/>
                    </a:cubicBezTo>
                    <a:cubicBezTo>
                      <a:pt x="84" y="64"/>
                      <a:pt x="100" y="49"/>
                      <a:pt x="106" y="45"/>
                    </a:cubicBezTo>
                    <a:cubicBezTo>
                      <a:pt x="106" y="45"/>
                      <a:pt x="133" y="18"/>
                      <a:pt x="166" y="44"/>
                    </a:cubicBezTo>
                    <a:cubicBezTo>
                      <a:pt x="166" y="44"/>
                      <a:pt x="211" y="80"/>
                      <a:pt x="256" y="140"/>
                    </a:cubicBezTo>
                    <a:cubicBezTo>
                      <a:pt x="257" y="133"/>
                      <a:pt x="257" y="133"/>
                      <a:pt x="257" y="133"/>
                    </a:cubicBezTo>
                    <a:cubicBezTo>
                      <a:pt x="257" y="133"/>
                      <a:pt x="259" y="127"/>
                      <a:pt x="255" y="122"/>
                    </a:cubicBezTo>
                    <a:cubicBezTo>
                      <a:pt x="255" y="122"/>
                      <a:pt x="220" y="70"/>
                      <a:pt x="177" y="33"/>
                    </a:cubicBezTo>
                    <a:cubicBezTo>
                      <a:pt x="177" y="33"/>
                      <a:pt x="156" y="11"/>
                      <a:pt x="128" y="5"/>
                    </a:cubicBezTo>
                    <a:cubicBezTo>
                      <a:pt x="128" y="5"/>
                      <a:pt x="106" y="0"/>
                      <a:pt x="84" y="16"/>
                    </a:cubicBezTo>
                    <a:cubicBezTo>
                      <a:pt x="74" y="25"/>
                      <a:pt x="51" y="46"/>
                      <a:pt x="32" y="64"/>
                    </a:cubicBezTo>
                    <a:cubicBezTo>
                      <a:pt x="14" y="81"/>
                      <a:pt x="0" y="96"/>
                      <a:pt x="0" y="96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024255" eaLnBrk="0" hangingPunct="0">
                  <a:buFont typeface="Arial" panose="020B0604020202020204" pitchFamily="34" charset="0"/>
                  <a:buNone/>
                </a:pPr>
                <a:endParaRPr lang="zh-CN" altLang="en-US" sz="20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Freeform 30"/>
              <p:cNvSpPr/>
              <p:nvPr userDrawn="1"/>
            </p:nvSpPr>
            <p:spPr bwMode="auto">
              <a:xfrm>
                <a:off x="0" y="635000"/>
                <a:ext cx="1120775" cy="574675"/>
              </a:xfrm>
              <a:custGeom>
                <a:avLst/>
                <a:gdLst>
                  <a:gd name="T0" fmla="*/ 0 w 298"/>
                  <a:gd name="T1" fmla="*/ 0 h 152"/>
                  <a:gd name="T2" fmla="*/ 298 w 298"/>
                  <a:gd name="T3" fmla="*/ 152 h 152"/>
                </a:gdLst>
                <a:ahLst/>
                <a:cxnLst>
                  <a:cxn ang="0">
                    <a:pos x="298" y="55"/>
                  </a:cxn>
                  <a:cxn ang="0">
                    <a:pos x="280" y="35"/>
                  </a:cxn>
                  <a:cxn ang="0">
                    <a:pos x="273" y="36"/>
                  </a:cxn>
                  <a:cxn ang="0">
                    <a:pos x="191" y="110"/>
                  </a:cxn>
                  <a:cxn ang="0">
                    <a:pos x="151" y="125"/>
                  </a:cxn>
                  <a:cxn ang="0">
                    <a:pos x="115" y="119"/>
                  </a:cxn>
                  <a:cxn ang="0">
                    <a:pos x="61" y="76"/>
                  </a:cxn>
                  <a:cxn ang="0">
                    <a:pos x="21" y="30"/>
                  </a:cxn>
                  <a:cxn ang="0">
                    <a:pos x="0" y="0"/>
                  </a:cxn>
                  <a:cxn ang="0">
                    <a:pos x="6" y="23"/>
                  </a:cxn>
                  <a:cxn ang="0">
                    <a:pos x="74" y="109"/>
                  </a:cxn>
                  <a:cxn ang="0">
                    <a:pos x="154" y="150"/>
                  </a:cxn>
                  <a:cxn ang="0">
                    <a:pos x="220" y="126"/>
                  </a:cxn>
                  <a:cxn ang="0">
                    <a:pos x="298" y="55"/>
                  </a:cxn>
                </a:cxnLst>
                <a:rect l="T0" t="T1" r="T2" b="T3"/>
                <a:pathLst>
                  <a:path w="298" h="152">
                    <a:moveTo>
                      <a:pt x="298" y="55"/>
                    </a:moveTo>
                    <a:cubicBezTo>
                      <a:pt x="280" y="35"/>
                      <a:pt x="280" y="35"/>
                      <a:pt x="280" y="35"/>
                    </a:cubicBezTo>
                    <a:cubicBezTo>
                      <a:pt x="280" y="35"/>
                      <a:pt x="277" y="32"/>
                      <a:pt x="273" y="36"/>
                    </a:cubicBezTo>
                    <a:cubicBezTo>
                      <a:pt x="269" y="40"/>
                      <a:pt x="212" y="95"/>
                      <a:pt x="191" y="110"/>
                    </a:cubicBezTo>
                    <a:cubicBezTo>
                      <a:pt x="179" y="119"/>
                      <a:pt x="165" y="124"/>
                      <a:pt x="151" y="125"/>
                    </a:cubicBezTo>
                    <a:cubicBezTo>
                      <a:pt x="140" y="126"/>
                      <a:pt x="128" y="125"/>
                      <a:pt x="115" y="119"/>
                    </a:cubicBezTo>
                    <a:cubicBezTo>
                      <a:pt x="101" y="113"/>
                      <a:pt x="80" y="96"/>
                      <a:pt x="61" y="76"/>
                    </a:cubicBezTo>
                    <a:cubicBezTo>
                      <a:pt x="47" y="61"/>
                      <a:pt x="33" y="45"/>
                      <a:pt x="21" y="30"/>
                    </a:cubicBezTo>
                    <a:cubicBezTo>
                      <a:pt x="13" y="20"/>
                      <a:pt x="6" y="9"/>
                      <a:pt x="0" y="0"/>
                    </a:cubicBezTo>
                    <a:cubicBezTo>
                      <a:pt x="0" y="0"/>
                      <a:pt x="0" y="13"/>
                      <a:pt x="6" y="23"/>
                    </a:cubicBezTo>
                    <a:cubicBezTo>
                      <a:pt x="6" y="23"/>
                      <a:pt x="29" y="67"/>
                      <a:pt x="74" y="109"/>
                    </a:cubicBezTo>
                    <a:cubicBezTo>
                      <a:pt x="78" y="113"/>
                      <a:pt x="116" y="151"/>
                      <a:pt x="154" y="150"/>
                    </a:cubicBezTo>
                    <a:cubicBezTo>
                      <a:pt x="154" y="150"/>
                      <a:pt x="188" y="152"/>
                      <a:pt x="220" y="126"/>
                    </a:cubicBezTo>
                    <a:cubicBezTo>
                      <a:pt x="225" y="122"/>
                      <a:pt x="281" y="74"/>
                      <a:pt x="298" y="55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024255" eaLnBrk="0" hangingPunct="0">
                  <a:buFont typeface="Arial" panose="020B0604020202020204" pitchFamily="34" charset="0"/>
                  <a:buNone/>
                </a:pPr>
                <a:endParaRPr lang="zh-CN" altLang="en-US" sz="20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" name="Freeform 31"/>
              <p:cNvSpPr/>
              <p:nvPr userDrawn="1"/>
            </p:nvSpPr>
            <p:spPr bwMode="auto">
              <a:xfrm>
                <a:off x="0" y="514350"/>
                <a:ext cx="974725" cy="533400"/>
              </a:xfrm>
              <a:custGeom>
                <a:avLst/>
                <a:gdLst>
                  <a:gd name="T0" fmla="*/ 0 w 259"/>
                  <a:gd name="T1" fmla="*/ 0 h 141"/>
                  <a:gd name="T2" fmla="*/ 259 w 259"/>
                  <a:gd name="T3" fmla="*/ 141 h 141"/>
                </a:gdLst>
                <a:ahLst/>
                <a:cxnLst>
                  <a:cxn ang="0">
                    <a:pos x="259" y="45"/>
                  </a:cxn>
                  <a:cxn ang="0">
                    <a:pos x="238" y="25"/>
                  </a:cxn>
                  <a:cxn ang="0">
                    <a:pos x="227" y="26"/>
                  </a:cxn>
                  <a:cxn ang="0">
                    <a:pos x="190" y="62"/>
                  </a:cxn>
                  <a:cxn ang="0">
                    <a:pos x="152" y="96"/>
                  </a:cxn>
                  <a:cxn ang="0">
                    <a:pos x="93" y="97"/>
                  </a:cxn>
                  <a:cxn ang="0">
                    <a:pos x="3" y="0"/>
                  </a:cxn>
                  <a:cxn ang="0">
                    <a:pos x="1" y="7"/>
                  </a:cxn>
                  <a:cxn ang="0">
                    <a:pos x="4" y="19"/>
                  </a:cxn>
                  <a:cxn ang="0">
                    <a:pos x="81" y="107"/>
                  </a:cxn>
                  <a:cxn ang="0">
                    <a:pos x="130" y="136"/>
                  </a:cxn>
                  <a:cxn ang="0">
                    <a:pos x="174" y="124"/>
                  </a:cxn>
                  <a:cxn ang="0">
                    <a:pos x="227" y="76"/>
                  </a:cxn>
                  <a:cxn ang="0">
                    <a:pos x="259" y="45"/>
                  </a:cxn>
                </a:cxnLst>
                <a:rect l="T0" t="T1" r="T2" b="T3"/>
                <a:pathLst>
                  <a:path w="259" h="141">
                    <a:moveTo>
                      <a:pt x="259" y="45"/>
                    </a:moveTo>
                    <a:cubicBezTo>
                      <a:pt x="238" y="25"/>
                      <a:pt x="238" y="25"/>
                      <a:pt x="238" y="25"/>
                    </a:cubicBezTo>
                    <a:cubicBezTo>
                      <a:pt x="238" y="25"/>
                      <a:pt x="233" y="21"/>
                      <a:pt x="227" y="26"/>
                    </a:cubicBezTo>
                    <a:cubicBezTo>
                      <a:pt x="227" y="26"/>
                      <a:pt x="208" y="46"/>
                      <a:pt x="190" y="62"/>
                    </a:cubicBezTo>
                    <a:cubicBezTo>
                      <a:pt x="174" y="76"/>
                      <a:pt x="158" y="92"/>
                      <a:pt x="152" y="96"/>
                    </a:cubicBezTo>
                    <a:cubicBezTo>
                      <a:pt x="152" y="96"/>
                      <a:pt x="126" y="123"/>
                      <a:pt x="93" y="97"/>
                    </a:cubicBezTo>
                    <a:cubicBezTo>
                      <a:pt x="93" y="97"/>
                      <a:pt x="47" y="61"/>
                      <a:pt x="3" y="0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7"/>
                      <a:pt x="0" y="13"/>
                      <a:pt x="4" y="19"/>
                    </a:cubicBezTo>
                    <a:cubicBezTo>
                      <a:pt x="4" y="19"/>
                      <a:pt x="38" y="70"/>
                      <a:pt x="81" y="107"/>
                    </a:cubicBezTo>
                    <a:cubicBezTo>
                      <a:pt x="81" y="107"/>
                      <a:pt x="103" y="130"/>
                      <a:pt x="130" y="136"/>
                    </a:cubicBezTo>
                    <a:cubicBezTo>
                      <a:pt x="130" y="136"/>
                      <a:pt x="153" y="141"/>
                      <a:pt x="174" y="124"/>
                    </a:cubicBezTo>
                    <a:cubicBezTo>
                      <a:pt x="185" y="116"/>
                      <a:pt x="208" y="95"/>
                      <a:pt x="227" y="76"/>
                    </a:cubicBezTo>
                    <a:cubicBezTo>
                      <a:pt x="245" y="60"/>
                      <a:pt x="259" y="45"/>
                      <a:pt x="259" y="45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024255" eaLnBrk="0" hangingPunct="0">
                  <a:buFont typeface="Arial" panose="020B0604020202020204" pitchFamily="34" charset="0"/>
                  <a:buNone/>
                </a:pPr>
                <a:endParaRPr lang="zh-CN" altLang="en-US" sz="20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9" name="TextBox 7"/>
          <p:cNvSpPr txBox="1"/>
          <p:nvPr userDrawn="1"/>
        </p:nvSpPr>
        <p:spPr>
          <a:xfrm>
            <a:off x="11664620" y="6581004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 sz="1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3517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B73F820-777B-8739-CF74-499080A31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E75530-9774-18E4-0002-81F32DC06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CB7AD3-425B-74C1-5E8E-C6EC8C66A8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D066E7-F0E1-42CC-9B7C-5F1E0156612B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C2C060-845C-1553-AD60-A7751C6AA7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48E9BB-9261-B1E5-3E3C-C43F5EA1F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17863A-E096-4A47-887E-517F1BB1A8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399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DFF_883B372D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DC9_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DCA_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: 圆角 181">
            <a:extLst>
              <a:ext uri="{FF2B5EF4-FFF2-40B4-BE49-F238E27FC236}">
                <a16:creationId xmlns:a16="http://schemas.microsoft.com/office/drawing/2014/main" id="{D0A68846-CFCE-CBBC-AD5E-8B3107D3DAE5}"/>
              </a:ext>
            </a:extLst>
          </p:cNvPr>
          <p:cNvSpPr/>
          <p:nvPr/>
        </p:nvSpPr>
        <p:spPr>
          <a:xfrm>
            <a:off x="2371694" y="3429273"/>
            <a:ext cx="2834802" cy="1050585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 w="158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" name="矩形: 圆角 181">
            <a:extLst>
              <a:ext uri="{FF2B5EF4-FFF2-40B4-BE49-F238E27FC236}">
                <a16:creationId xmlns:a16="http://schemas.microsoft.com/office/drawing/2014/main" id="{84DE6ED8-E4C6-4B82-01A9-3214E0D6BCE3}"/>
              </a:ext>
            </a:extLst>
          </p:cNvPr>
          <p:cNvSpPr/>
          <p:nvPr/>
        </p:nvSpPr>
        <p:spPr>
          <a:xfrm>
            <a:off x="8432222" y="3443761"/>
            <a:ext cx="1733315" cy="3063153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 w="158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矩形: 圆角 181">
            <a:extLst>
              <a:ext uri="{FF2B5EF4-FFF2-40B4-BE49-F238E27FC236}">
                <a16:creationId xmlns:a16="http://schemas.microsoft.com/office/drawing/2014/main" id="{56D4304F-8CEF-951D-7A2F-5FFD1892BE89}"/>
              </a:ext>
            </a:extLst>
          </p:cNvPr>
          <p:cNvSpPr/>
          <p:nvPr/>
        </p:nvSpPr>
        <p:spPr>
          <a:xfrm>
            <a:off x="3759779" y="4989986"/>
            <a:ext cx="4323151" cy="1516935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 w="158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8687" name="标题 1"/>
          <p:cNvSpPr txBox="1"/>
          <p:nvPr/>
        </p:nvSpPr>
        <p:spPr bwMode="auto">
          <a:xfrm>
            <a:off x="157655" y="-21480"/>
            <a:ext cx="10294374" cy="580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研究内容一：本体论与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智能体协同的知识工具链框架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742690" y="2678430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 b="0"/>
              <a:t> </a:t>
            </a:r>
          </a:p>
        </p:txBody>
      </p:sp>
      <p:sp>
        <p:nvSpPr>
          <p:cNvPr id="6" name="矩形 5"/>
          <p:cNvSpPr/>
          <p:nvPr/>
        </p:nvSpPr>
        <p:spPr>
          <a:xfrm>
            <a:off x="233920" y="604952"/>
            <a:ext cx="11605260" cy="2763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1600" b="1" dirty="0"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研究问题：如何构建以本体为统一语义控制层、以</a:t>
            </a:r>
            <a:r>
              <a:rPr lang="en-US" altLang="zh-CN" sz="1600" b="1" dirty="0"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AI</a:t>
            </a:r>
            <a:r>
              <a:rPr lang="zh-CN" altLang="en-US" sz="1600" b="1" dirty="0"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多智能体为任务执行层的自动化知识工具链框架？</a:t>
            </a:r>
            <a:endParaRPr lang="en-US" altLang="zh-CN" sz="1600" b="1" dirty="0">
              <a:highlight>
                <a:srgbClr val="FFFF00"/>
              </a:highlight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2857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1600" b="1" dirty="0"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研究方法：</a:t>
            </a:r>
            <a:endParaRPr lang="en-US" altLang="zh-CN" sz="1600" b="1" dirty="0">
              <a:highlight>
                <a:srgbClr val="FFFF00"/>
              </a:highlight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285750" lvl="1" indent="-285750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endParaRPr lang="en-US" altLang="zh-CN" sz="1600" b="1" dirty="0">
              <a:highlight>
                <a:srgbClr val="FFFF00"/>
              </a:highlight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285750" lvl="1" indent="-285750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endParaRPr lang="en-US" altLang="zh-CN" sz="1600" b="1" dirty="0">
              <a:highlight>
                <a:srgbClr val="FFFF00"/>
              </a:highlight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0" lvl="1">
              <a:lnSpc>
                <a:spcPct val="150000"/>
              </a:lnSpc>
              <a:spcBef>
                <a:spcPts val="600"/>
              </a:spcBef>
              <a:spcAft>
                <a:spcPts val="2400"/>
              </a:spcAft>
              <a:buClr>
                <a:srgbClr val="FF0000"/>
              </a:buClr>
            </a:pPr>
            <a:endParaRPr lang="en-US" altLang="zh-CN" sz="1600" b="1" dirty="0">
              <a:highlight>
                <a:srgbClr val="FFFF00"/>
              </a:highlight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2857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1600" b="1" dirty="0"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实验验证：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选取林业管理等典型任务，搭建完整原型系统并进行系统验证与评估</a:t>
            </a:r>
            <a:r>
              <a:rPr lang="zh-CN" altLang="en-US" sz="1600" dirty="0"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。</a:t>
            </a:r>
            <a:endParaRPr lang="en-US" altLang="zh-CN" sz="1600" dirty="0">
              <a:highlight>
                <a:srgbClr val="FFFF00"/>
              </a:highlight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285750" lvl="1" indent="-285750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endParaRPr lang="en-US" altLang="zh-CN" sz="1600" b="1" dirty="0">
              <a:highlight>
                <a:srgbClr val="FFFF00"/>
              </a:highlight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285750" lvl="1" indent="-285750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endParaRPr lang="en-US" altLang="zh-CN" sz="1600" b="1" dirty="0">
              <a:highlight>
                <a:srgbClr val="FFFF00"/>
              </a:highlight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37383" y="1033099"/>
            <a:ext cx="11756494" cy="5589392"/>
          </a:xfrm>
          <a:prstGeom prst="rect">
            <a:avLst/>
          </a:prstGeom>
          <a:noFill/>
          <a:ln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84FF963D-61BA-BAF5-8659-94EC9ABF23D5}"/>
              </a:ext>
            </a:extLst>
          </p:cNvPr>
          <p:cNvSpPr txBox="1"/>
          <p:nvPr/>
        </p:nvSpPr>
        <p:spPr>
          <a:xfrm>
            <a:off x="392080" y="1295379"/>
            <a:ext cx="11601797" cy="1747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>
              <a:lnSpc>
                <a:spcPct val="150000"/>
              </a:lnSpc>
              <a:spcBef>
                <a:spcPts val="3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结合本体论技术与分层解耦设计方法，构建以本体元数据服务（</a:t>
            </a:r>
            <a:r>
              <a:rPr lang="en-US" altLang="zh-CN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OMS</a:t>
            </a: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）为统一语义控制层的</a:t>
            </a:r>
            <a:r>
              <a:rPr lang="en-US" altLang="zh-CN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altLang="zh-CN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本体</a:t>
            </a:r>
            <a:r>
              <a:rPr lang="en-US" altLang="zh-CN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智能体</a:t>
            </a:r>
            <a:r>
              <a:rPr lang="en-US" altLang="zh-CN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业务</a:t>
            </a:r>
            <a:r>
              <a:rPr lang="en-US" altLang="zh-CN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分层协同架构，实现数据处理、本体构建、任务规划、业务执行与结果反馈的自动化闭环。</a:t>
            </a:r>
            <a:endParaRPr lang="en-US" altLang="zh-CN" sz="1400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lvl="1" indent="-285750">
              <a:lnSpc>
                <a:spcPct val="150000"/>
              </a:lnSpc>
              <a:spcBef>
                <a:spcPts val="3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结合本体对象服务与动作服务技术，建立本体驱动的服务调用与权限约束机制，赋能智能体基于统一对象、关系与规则进行任务规划与业务执行，避免直接对接底层系统接口。</a:t>
            </a:r>
            <a:endParaRPr lang="en-US" altLang="zh-CN" sz="1400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lvl="1" indent="-285750">
              <a:lnSpc>
                <a:spcPct val="150000"/>
              </a:lnSpc>
              <a:spcBef>
                <a:spcPts val="3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结合多智能体协同调度与运行反馈技术，构建</a:t>
            </a:r>
            <a:r>
              <a:rPr lang="en-US" altLang="zh-CN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执行</a:t>
            </a:r>
            <a:r>
              <a:rPr lang="en-US" altLang="zh-CN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评估</a:t>
            </a:r>
            <a:r>
              <a:rPr lang="en-US" altLang="zh-CN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更新</a:t>
            </a:r>
            <a:r>
              <a:rPr lang="en-US" altLang="zh-CN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闭环控制流程，实现任务方案、工具能力、本体知识与业务对象的持续优化。</a:t>
            </a:r>
          </a:p>
        </p:txBody>
      </p:sp>
      <p:sp>
        <p:nvSpPr>
          <p:cNvPr id="182" name="矩形: 圆角 181">
            <a:extLst>
              <a:ext uri="{FF2B5EF4-FFF2-40B4-BE49-F238E27FC236}">
                <a16:creationId xmlns:a16="http://schemas.microsoft.com/office/drawing/2014/main" id="{7E7E4932-D84D-AAAA-331E-E1F6E5D85407}"/>
              </a:ext>
            </a:extLst>
          </p:cNvPr>
          <p:cNvSpPr/>
          <p:nvPr/>
        </p:nvSpPr>
        <p:spPr>
          <a:xfrm>
            <a:off x="5521761" y="3443762"/>
            <a:ext cx="2602710" cy="1036096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 w="158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ACBBA49B-8C6B-7F9E-56CA-69408106E12E}"/>
              </a:ext>
            </a:extLst>
          </p:cNvPr>
          <p:cNvSpPr/>
          <p:nvPr/>
        </p:nvSpPr>
        <p:spPr>
          <a:xfrm>
            <a:off x="2509310" y="3908866"/>
            <a:ext cx="1037908" cy="468622"/>
          </a:xfrm>
          <a:prstGeom prst="rect">
            <a:avLst/>
          </a:prstGeom>
          <a:solidFill>
            <a:srgbClr val="2FC0B5">
              <a:alpha val="24781"/>
            </a:srgb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API </a:t>
            </a:r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调用</a:t>
            </a:r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人工输入</a:t>
            </a: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10BDC348-2DC5-F15D-8845-C419E9E3691E}"/>
              </a:ext>
            </a:extLst>
          </p:cNvPr>
          <p:cNvSpPr/>
          <p:nvPr/>
        </p:nvSpPr>
        <p:spPr>
          <a:xfrm>
            <a:off x="5604475" y="5128556"/>
            <a:ext cx="963895" cy="468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对象读取</a:t>
            </a:r>
            <a:endParaRPr lang="en-US" altLang="zh-CN" sz="12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</a:t>
            </a:r>
            <a:endParaRPr lang="en-US" altLang="zh-CN" sz="12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36D13517-0DD0-5D4B-3A87-435762E9D6F8}"/>
              </a:ext>
            </a:extLst>
          </p:cNvPr>
          <p:cNvSpPr/>
          <p:nvPr/>
        </p:nvSpPr>
        <p:spPr>
          <a:xfrm>
            <a:off x="7023678" y="5128556"/>
            <a:ext cx="963895" cy="468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动作服务</a:t>
            </a:r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A73BF2EE-449F-4D3E-9048-56870A30C8FB}"/>
              </a:ext>
            </a:extLst>
          </p:cNvPr>
          <p:cNvSpPr/>
          <p:nvPr/>
        </p:nvSpPr>
        <p:spPr>
          <a:xfrm>
            <a:off x="4158633" y="5128556"/>
            <a:ext cx="963895" cy="468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业务对象库</a:t>
            </a:r>
            <a:endParaRPr lang="en-US" altLang="zh-CN" sz="12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3DAB7159-648C-D528-817A-B4AA8DC8251E}"/>
              </a:ext>
            </a:extLst>
          </p:cNvPr>
          <p:cNvSpPr/>
          <p:nvPr/>
        </p:nvSpPr>
        <p:spPr>
          <a:xfrm>
            <a:off x="4158632" y="5960420"/>
            <a:ext cx="3804662" cy="4686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本体元数据服务（</a:t>
            </a:r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OMS</a:t>
            </a:r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048640" name="文本框 1048639">
            <a:extLst>
              <a:ext uri="{FF2B5EF4-FFF2-40B4-BE49-F238E27FC236}">
                <a16:creationId xmlns:a16="http://schemas.microsoft.com/office/drawing/2014/main" id="{B2F6EE68-F54A-C197-E29D-8A06DB270848}"/>
              </a:ext>
            </a:extLst>
          </p:cNvPr>
          <p:cNvSpPr txBox="1"/>
          <p:nvPr/>
        </p:nvSpPr>
        <p:spPr>
          <a:xfrm>
            <a:off x="4640984" y="5639414"/>
            <a:ext cx="617477" cy="265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25" b="1" spc="0" baseline="0" dirty="0">
                <a:ln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/>
                <a:rtl val="0"/>
              </a:rPr>
              <a:t>元数据</a:t>
            </a:r>
          </a:p>
        </p:txBody>
      </p:sp>
      <p:sp>
        <p:nvSpPr>
          <p:cNvPr id="1048641" name="文本框 1048640">
            <a:extLst>
              <a:ext uri="{FF2B5EF4-FFF2-40B4-BE49-F238E27FC236}">
                <a16:creationId xmlns:a16="http://schemas.microsoft.com/office/drawing/2014/main" id="{9BF0D5DC-0654-CFFB-954B-E08DA470A621}"/>
              </a:ext>
            </a:extLst>
          </p:cNvPr>
          <p:cNvSpPr txBox="1"/>
          <p:nvPr/>
        </p:nvSpPr>
        <p:spPr>
          <a:xfrm>
            <a:off x="5123863" y="4945768"/>
            <a:ext cx="542051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125" b="1" spc="0" baseline="0" dirty="0">
                <a:ln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/>
                <a:rtl val="0"/>
              </a:rPr>
              <a:t>业务对象</a:t>
            </a:r>
          </a:p>
        </p:txBody>
      </p:sp>
      <p:sp>
        <p:nvSpPr>
          <p:cNvPr id="1048642" name="文本框 1048641">
            <a:extLst>
              <a:ext uri="{FF2B5EF4-FFF2-40B4-BE49-F238E27FC236}">
                <a16:creationId xmlns:a16="http://schemas.microsoft.com/office/drawing/2014/main" id="{D32ECC8C-E3C2-FCCD-11D1-40FF90ABE23D}"/>
              </a:ext>
            </a:extLst>
          </p:cNvPr>
          <p:cNvSpPr txBox="1"/>
          <p:nvPr/>
        </p:nvSpPr>
        <p:spPr>
          <a:xfrm flipH="1">
            <a:off x="9592651" y="4479858"/>
            <a:ext cx="483603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125" b="1" dirty="0">
                <a:ln/>
                <a:solidFill>
                  <a:srgbClr val="01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/>
                <a:rtl val="0"/>
              </a:rPr>
              <a:t>规则、知识与本体元数据更新</a:t>
            </a:r>
            <a:endParaRPr lang="zh-CN" altLang="en-US" sz="1125" b="1" spc="0" baseline="0" dirty="0">
              <a:ln/>
              <a:solidFill>
                <a:srgbClr val="01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/>
              <a:rtl val="0"/>
            </a:endParaRPr>
          </a:p>
        </p:txBody>
      </p:sp>
      <p:sp>
        <p:nvSpPr>
          <p:cNvPr id="1048643" name="文本框 1048642">
            <a:extLst>
              <a:ext uri="{FF2B5EF4-FFF2-40B4-BE49-F238E27FC236}">
                <a16:creationId xmlns:a16="http://schemas.microsoft.com/office/drawing/2014/main" id="{DF5C227F-ED70-99B1-F8C9-26099F89FA8C}"/>
              </a:ext>
            </a:extLst>
          </p:cNvPr>
          <p:cNvSpPr txBox="1"/>
          <p:nvPr/>
        </p:nvSpPr>
        <p:spPr>
          <a:xfrm>
            <a:off x="5130632" y="3731409"/>
            <a:ext cx="483774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125" b="1" spc="0" baseline="0" dirty="0">
                <a:ln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/>
                <a:rtl val="0"/>
              </a:rPr>
              <a:t>规则数据</a:t>
            </a:r>
          </a:p>
        </p:txBody>
      </p:sp>
      <p:sp>
        <p:nvSpPr>
          <p:cNvPr id="1048644" name="文本框 1048643">
            <a:extLst>
              <a:ext uri="{FF2B5EF4-FFF2-40B4-BE49-F238E27FC236}">
                <a16:creationId xmlns:a16="http://schemas.microsoft.com/office/drawing/2014/main" id="{E585821E-D646-35ED-C078-133F598C977D}"/>
              </a:ext>
            </a:extLst>
          </p:cNvPr>
          <p:cNvSpPr txBox="1"/>
          <p:nvPr/>
        </p:nvSpPr>
        <p:spPr>
          <a:xfrm>
            <a:off x="6557592" y="3722797"/>
            <a:ext cx="499632" cy="4385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>
              <a:defRPr sz="1125" b="1" spc="0" baseline="0">
                <a:ln/>
                <a:latin typeface="宋体" panose="02010600030101010101" pitchFamily="2" charset="-122"/>
                <a:ea typeface="宋体" panose="02010600030101010101" pitchFamily="2" charset="-122"/>
                <a:rtl val="0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微软雅黑"/>
              </a:rPr>
              <a:t>规划方案</a:t>
            </a:r>
          </a:p>
        </p:txBody>
      </p:sp>
      <p:sp>
        <p:nvSpPr>
          <p:cNvPr id="1048645" name="文本框 1048644">
            <a:extLst>
              <a:ext uri="{FF2B5EF4-FFF2-40B4-BE49-F238E27FC236}">
                <a16:creationId xmlns:a16="http://schemas.microsoft.com/office/drawing/2014/main" id="{0AA8D229-41AF-CAD4-13BF-B6828A9D65EA}"/>
              </a:ext>
            </a:extLst>
          </p:cNvPr>
          <p:cNvSpPr txBox="1"/>
          <p:nvPr/>
        </p:nvSpPr>
        <p:spPr>
          <a:xfrm>
            <a:off x="7825565" y="4551404"/>
            <a:ext cx="522869" cy="4385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>
              <a:defRPr sz="1125" b="1" spc="0" baseline="0">
                <a:ln/>
                <a:latin typeface="宋体" panose="02010600030101010101" pitchFamily="2" charset="-122"/>
                <a:ea typeface="宋体" panose="02010600030101010101" pitchFamily="2" charset="-122"/>
                <a:rtl val="0"/>
              </a:defRPr>
            </a:lvl1pPr>
          </a:lstStyle>
          <a:p>
            <a:pPr algn="ctr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微软雅黑"/>
              </a:rPr>
              <a:t>执行结果</a:t>
            </a:r>
          </a:p>
        </p:txBody>
      </p:sp>
      <p:cxnSp>
        <p:nvCxnSpPr>
          <p:cNvPr id="1048646" name="直接箭头连接符 1048645">
            <a:extLst>
              <a:ext uri="{FF2B5EF4-FFF2-40B4-BE49-F238E27FC236}">
                <a16:creationId xmlns:a16="http://schemas.microsoft.com/office/drawing/2014/main" id="{7D4A1A29-E1EC-7FA7-51C7-910E5EFAA818}"/>
              </a:ext>
            </a:extLst>
          </p:cNvPr>
          <p:cNvCxnSpPr>
            <a:cxnSpLocks/>
          </p:cNvCxnSpPr>
          <p:nvPr/>
        </p:nvCxnSpPr>
        <p:spPr>
          <a:xfrm>
            <a:off x="5122527" y="4149145"/>
            <a:ext cx="469128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647" name="直接箭头连接符 1048646">
            <a:extLst>
              <a:ext uri="{FF2B5EF4-FFF2-40B4-BE49-F238E27FC236}">
                <a16:creationId xmlns:a16="http://schemas.microsoft.com/office/drawing/2014/main" id="{A41924D5-1D60-5FC7-37C2-903E8F38C243}"/>
              </a:ext>
            </a:extLst>
          </p:cNvPr>
          <p:cNvCxnSpPr>
            <a:cxnSpLocks/>
          </p:cNvCxnSpPr>
          <p:nvPr/>
        </p:nvCxnSpPr>
        <p:spPr>
          <a:xfrm>
            <a:off x="6565710" y="4147616"/>
            <a:ext cx="469128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648" name="直接箭头连接符 1048647">
            <a:extLst>
              <a:ext uri="{FF2B5EF4-FFF2-40B4-BE49-F238E27FC236}">
                <a16:creationId xmlns:a16="http://schemas.microsoft.com/office/drawing/2014/main" id="{C0175438-B56F-A573-B6D1-7451B88B7E8B}"/>
              </a:ext>
            </a:extLst>
          </p:cNvPr>
          <p:cNvCxnSpPr>
            <a:cxnSpLocks/>
            <a:stCxn id="190" idx="3"/>
            <a:endCxn id="188" idx="1"/>
          </p:cNvCxnSpPr>
          <p:nvPr/>
        </p:nvCxnSpPr>
        <p:spPr>
          <a:xfrm>
            <a:off x="5122528" y="5362867"/>
            <a:ext cx="481947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649" name="直接箭头连接符 1048648">
            <a:extLst>
              <a:ext uri="{FF2B5EF4-FFF2-40B4-BE49-F238E27FC236}">
                <a16:creationId xmlns:a16="http://schemas.microsoft.com/office/drawing/2014/main" id="{1B8E636D-6407-901E-9CEE-9F7DD203BD29}"/>
              </a:ext>
            </a:extLst>
          </p:cNvPr>
          <p:cNvCxnSpPr>
            <a:cxnSpLocks/>
            <a:endCxn id="190" idx="0"/>
          </p:cNvCxnSpPr>
          <p:nvPr/>
        </p:nvCxnSpPr>
        <p:spPr>
          <a:xfrm>
            <a:off x="4640580" y="4383455"/>
            <a:ext cx="0" cy="74510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650" name="直接箭头连接符 1048649">
            <a:extLst>
              <a:ext uri="{FF2B5EF4-FFF2-40B4-BE49-F238E27FC236}">
                <a16:creationId xmlns:a16="http://schemas.microsoft.com/office/drawing/2014/main" id="{EABA3894-F033-5D6D-18E5-BE286E38C983}"/>
              </a:ext>
            </a:extLst>
          </p:cNvPr>
          <p:cNvCxnSpPr>
            <a:cxnSpLocks/>
          </p:cNvCxnSpPr>
          <p:nvPr/>
        </p:nvCxnSpPr>
        <p:spPr>
          <a:xfrm flipH="1" flipV="1">
            <a:off x="6102407" y="4383455"/>
            <a:ext cx="1" cy="74510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51" name="文本框 1048650">
            <a:extLst>
              <a:ext uri="{FF2B5EF4-FFF2-40B4-BE49-F238E27FC236}">
                <a16:creationId xmlns:a16="http://schemas.microsoft.com/office/drawing/2014/main" id="{C9075795-DA9D-8DA8-B007-6F03F0C41D29}"/>
              </a:ext>
            </a:extLst>
          </p:cNvPr>
          <p:cNvSpPr txBox="1"/>
          <p:nvPr/>
        </p:nvSpPr>
        <p:spPr>
          <a:xfrm>
            <a:off x="4170749" y="4539753"/>
            <a:ext cx="534424" cy="4385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>
              <a:defRPr sz="1125" b="1" spc="0" baseline="0">
                <a:ln/>
                <a:latin typeface="宋体" panose="02010600030101010101" pitchFamily="2" charset="-122"/>
                <a:ea typeface="宋体" panose="02010600030101010101" pitchFamily="2" charset="-122"/>
                <a:rtl val="0"/>
              </a:defRPr>
            </a:lvl1pPr>
          </a:lstStyle>
          <a:p>
            <a:pPr algn="ctr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微软雅黑"/>
              </a:rPr>
              <a:t>对象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微软雅黑"/>
            </a:endParaRPr>
          </a:p>
          <a:p>
            <a:pPr algn="ctr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微软雅黑"/>
              </a:rPr>
              <a:t>实例</a:t>
            </a:r>
          </a:p>
        </p:txBody>
      </p:sp>
      <p:sp>
        <p:nvSpPr>
          <p:cNvPr id="1048652" name="文本框 1048651">
            <a:extLst>
              <a:ext uri="{FF2B5EF4-FFF2-40B4-BE49-F238E27FC236}">
                <a16:creationId xmlns:a16="http://schemas.microsoft.com/office/drawing/2014/main" id="{882B415B-4C61-F06A-7AF1-79C76F558186}"/>
              </a:ext>
            </a:extLst>
          </p:cNvPr>
          <p:cNvSpPr txBox="1"/>
          <p:nvPr/>
        </p:nvSpPr>
        <p:spPr>
          <a:xfrm>
            <a:off x="5361609" y="4538381"/>
            <a:ext cx="776290" cy="4385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>
              <a:defRPr sz="1125" b="1" spc="0" baseline="0">
                <a:ln/>
                <a:latin typeface="宋体" panose="02010600030101010101" pitchFamily="2" charset="-122"/>
                <a:ea typeface="宋体" panose="02010600030101010101" pitchFamily="2" charset="-122"/>
                <a:rtl val="0"/>
              </a:defRPr>
            </a:lvl1pPr>
          </a:lstStyle>
          <a:p>
            <a:pPr algn="ctr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微软雅黑"/>
              </a:rPr>
              <a:t>对象与关系上下文</a:t>
            </a:r>
          </a:p>
        </p:txBody>
      </p:sp>
      <p:sp>
        <p:nvSpPr>
          <p:cNvPr id="1048653" name="文本框 1048652">
            <a:extLst>
              <a:ext uri="{FF2B5EF4-FFF2-40B4-BE49-F238E27FC236}">
                <a16:creationId xmlns:a16="http://schemas.microsoft.com/office/drawing/2014/main" id="{92B5DAA5-C814-8C3A-430F-BD3EEDA977C6}"/>
              </a:ext>
            </a:extLst>
          </p:cNvPr>
          <p:cNvSpPr txBox="1"/>
          <p:nvPr/>
        </p:nvSpPr>
        <p:spPr>
          <a:xfrm>
            <a:off x="7091946" y="4533034"/>
            <a:ext cx="543878" cy="4385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>
              <a:defRPr sz="1125" b="1" spc="0" baseline="0">
                <a:ln/>
                <a:latin typeface="宋体" panose="02010600030101010101" pitchFamily="2" charset="-122"/>
                <a:ea typeface="宋体" panose="02010600030101010101" pitchFamily="2" charset="-122"/>
                <a:rtl val="0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微软雅黑"/>
              </a:rPr>
              <a:t>动作类型</a:t>
            </a:r>
          </a:p>
        </p:txBody>
      </p:sp>
      <p:cxnSp>
        <p:nvCxnSpPr>
          <p:cNvPr id="1048654" name="直接箭头连接符 1048653">
            <a:extLst>
              <a:ext uri="{FF2B5EF4-FFF2-40B4-BE49-F238E27FC236}">
                <a16:creationId xmlns:a16="http://schemas.microsoft.com/office/drawing/2014/main" id="{C4C2532D-FC09-62EA-2147-EE36B4CFF9F8}"/>
              </a:ext>
            </a:extLst>
          </p:cNvPr>
          <p:cNvCxnSpPr>
            <a:cxnSpLocks/>
          </p:cNvCxnSpPr>
          <p:nvPr/>
        </p:nvCxnSpPr>
        <p:spPr>
          <a:xfrm flipV="1">
            <a:off x="4647134" y="5602719"/>
            <a:ext cx="0" cy="357701"/>
          </a:xfrm>
          <a:prstGeom prst="straightConnector1">
            <a:avLst/>
          </a:prstGeom>
          <a:ln w="31750">
            <a:solidFill>
              <a:schemeClr val="tx1"/>
            </a:solidFill>
            <a:prstDash val="dash"/>
            <a:headEnd type="none" w="lg" len="lg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655" name="直接箭头连接符 1048654">
            <a:extLst>
              <a:ext uri="{FF2B5EF4-FFF2-40B4-BE49-F238E27FC236}">
                <a16:creationId xmlns:a16="http://schemas.microsoft.com/office/drawing/2014/main" id="{29FFEBC0-36C4-D02E-FBD1-DED8266260A4}"/>
              </a:ext>
            </a:extLst>
          </p:cNvPr>
          <p:cNvCxnSpPr>
            <a:cxnSpLocks/>
          </p:cNvCxnSpPr>
          <p:nvPr/>
        </p:nvCxnSpPr>
        <p:spPr>
          <a:xfrm flipV="1">
            <a:off x="6102408" y="5602718"/>
            <a:ext cx="0" cy="360000"/>
          </a:xfrm>
          <a:prstGeom prst="straightConnector1">
            <a:avLst/>
          </a:prstGeom>
          <a:ln w="31750">
            <a:solidFill>
              <a:schemeClr val="tx1"/>
            </a:solidFill>
            <a:prstDash val="dash"/>
            <a:headEnd type="none" w="lg" len="lg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656" name="直接箭头连接符 1048655">
            <a:extLst>
              <a:ext uri="{FF2B5EF4-FFF2-40B4-BE49-F238E27FC236}">
                <a16:creationId xmlns:a16="http://schemas.microsoft.com/office/drawing/2014/main" id="{C01F9088-5B73-3DA1-C3D2-55F5ECF2CFC1}"/>
              </a:ext>
            </a:extLst>
          </p:cNvPr>
          <p:cNvCxnSpPr>
            <a:cxnSpLocks/>
          </p:cNvCxnSpPr>
          <p:nvPr/>
        </p:nvCxnSpPr>
        <p:spPr>
          <a:xfrm flipV="1">
            <a:off x="7514122" y="5602739"/>
            <a:ext cx="0" cy="357680"/>
          </a:xfrm>
          <a:prstGeom prst="straightConnector1">
            <a:avLst/>
          </a:prstGeom>
          <a:ln w="31750">
            <a:solidFill>
              <a:schemeClr val="tx1"/>
            </a:solidFill>
            <a:prstDash val="dash"/>
            <a:headEnd type="none" w="lg" len="lg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657" name="连接符: 肘形 1048656">
            <a:extLst>
              <a:ext uri="{FF2B5EF4-FFF2-40B4-BE49-F238E27FC236}">
                <a16:creationId xmlns:a16="http://schemas.microsoft.com/office/drawing/2014/main" id="{19A34B03-1D6E-1FED-AB9A-7D73F3E58C8B}"/>
              </a:ext>
            </a:extLst>
          </p:cNvPr>
          <p:cNvCxnSpPr>
            <a:cxnSpLocks/>
            <a:endCxn id="191" idx="3"/>
          </p:cNvCxnSpPr>
          <p:nvPr/>
        </p:nvCxnSpPr>
        <p:spPr>
          <a:xfrm flipH="1">
            <a:off x="7963294" y="4149145"/>
            <a:ext cx="1507629" cy="2045586"/>
          </a:xfrm>
          <a:prstGeom prst="bentConnector3">
            <a:avLst>
              <a:gd name="adj1" fmla="val -39181"/>
            </a:avLst>
          </a:prstGeom>
          <a:ln w="31750">
            <a:solidFill>
              <a:srgbClr val="0070C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58" name="矩形 1048657">
            <a:extLst>
              <a:ext uri="{FF2B5EF4-FFF2-40B4-BE49-F238E27FC236}">
                <a16:creationId xmlns:a16="http://schemas.microsoft.com/office/drawing/2014/main" id="{3599ABFE-0E5E-5594-7FB0-615A79CFBA83}"/>
              </a:ext>
            </a:extLst>
          </p:cNvPr>
          <p:cNvSpPr/>
          <p:nvPr/>
        </p:nvSpPr>
        <p:spPr>
          <a:xfrm>
            <a:off x="8521525" y="5103587"/>
            <a:ext cx="963895" cy="4686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专家审核</a:t>
            </a:r>
          </a:p>
        </p:txBody>
      </p:sp>
      <p:cxnSp>
        <p:nvCxnSpPr>
          <p:cNvPr id="1048659" name="直接箭头连接符 1048658">
            <a:extLst>
              <a:ext uri="{FF2B5EF4-FFF2-40B4-BE49-F238E27FC236}">
                <a16:creationId xmlns:a16="http://schemas.microsoft.com/office/drawing/2014/main" id="{947B41AA-E188-54E6-DB0A-F36E2F507DCA}"/>
              </a:ext>
            </a:extLst>
          </p:cNvPr>
          <p:cNvCxnSpPr>
            <a:cxnSpLocks/>
          </p:cNvCxnSpPr>
          <p:nvPr/>
        </p:nvCxnSpPr>
        <p:spPr>
          <a:xfrm flipV="1">
            <a:off x="8999318" y="4382233"/>
            <a:ext cx="0" cy="721354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660" name="直接箭头连接符 1048659">
            <a:extLst>
              <a:ext uri="{FF2B5EF4-FFF2-40B4-BE49-F238E27FC236}">
                <a16:creationId xmlns:a16="http://schemas.microsoft.com/office/drawing/2014/main" id="{6FC49FA0-F341-79BE-AFC7-D4CFD9D533AA}"/>
              </a:ext>
            </a:extLst>
          </p:cNvPr>
          <p:cNvCxnSpPr>
            <a:cxnSpLocks/>
            <a:stCxn id="183" idx="3"/>
            <a:endCxn id="11" idx="1"/>
          </p:cNvCxnSpPr>
          <p:nvPr/>
        </p:nvCxnSpPr>
        <p:spPr>
          <a:xfrm>
            <a:off x="3547218" y="4143177"/>
            <a:ext cx="624054" cy="7104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661" name="直接箭头连接符 1048660">
            <a:extLst>
              <a:ext uri="{FF2B5EF4-FFF2-40B4-BE49-F238E27FC236}">
                <a16:creationId xmlns:a16="http://schemas.microsoft.com/office/drawing/2014/main" id="{03DD4FC2-36ED-BDC5-C447-1BABBCE250F0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7514123" y="4377488"/>
            <a:ext cx="0" cy="751067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62" name="文本框 1048661">
            <a:extLst>
              <a:ext uri="{FF2B5EF4-FFF2-40B4-BE49-F238E27FC236}">
                <a16:creationId xmlns:a16="http://schemas.microsoft.com/office/drawing/2014/main" id="{D590354A-AF53-47E9-D727-FD1BB238EEBF}"/>
              </a:ext>
            </a:extLst>
          </p:cNvPr>
          <p:cNvSpPr txBox="1"/>
          <p:nvPr/>
        </p:nvSpPr>
        <p:spPr>
          <a:xfrm>
            <a:off x="8958018" y="4556781"/>
            <a:ext cx="479896" cy="4385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>
              <a:defRPr sz="1125" b="1" spc="0" baseline="0">
                <a:ln/>
                <a:latin typeface="宋体" panose="02010600030101010101" pitchFamily="2" charset="-122"/>
                <a:ea typeface="宋体" panose="02010600030101010101" pitchFamily="2" charset="-122"/>
                <a:rtl val="0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审核反馈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微软雅黑"/>
            </a:endParaRPr>
          </a:p>
        </p:txBody>
      </p:sp>
      <p:sp>
        <p:nvSpPr>
          <p:cNvPr id="1048663" name="文本框 1048662">
            <a:extLst>
              <a:ext uri="{FF2B5EF4-FFF2-40B4-BE49-F238E27FC236}">
                <a16:creationId xmlns:a16="http://schemas.microsoft.com/office/drawing/2014/main" id="{71B63D79-9928-75BD-28D3-845DA3F81716}"/>
              </a:ext>
            </a:extLst>
          </p:cNvPr>
          <p:cNvSpPr txBox="1"/>
          <p:nvPr/>
        </p:nvSpPr>
        <p:spPr>
          <a:xfrm>
            <a:off x="6106447" y="5640766"/>
            <a:ext cx="617477" cy="2654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>
              <a:defRPr sz="1125" b="1" spc="0" baseline="0">
                <a:ln/>
                <a:latin typeface="宋体" panose="02010600030101010101" pitchFamily="2" charset="-122"/>
                <a:ea typeface="宋体" panose="02010600030101010101" pitchFamily="2" charset="-122"/>
                <a:rtl val="0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微软雅黑"/>
              </a:rPr>
              <a:t>元数据</a:t>
            </a:r>
          </a:p>
        </p:txBody>
      </p:sp>
      <p:sp>
        <p:nvSpPr>
          <p:cNvPr id="1048664" name="文本框 1048663">
            <a:extLst>
              <a:ext uri="{FF2B5EF4-FFF2-40B4-BE49-F238E27FC236}">
                <a16:creationId xmlns:a16="http://schemas.microsoft.com/office/drawing/2014/main" id="{2F929AB0-5E83-5951-C153-D2D160794E9A}"/>
              </a:ext>
            </a:extLst>
          </p:cNvPr>
          <p:cNvSpPr txBox="1"/>
          <p:nvPr/>
        </p:nvSpPr>
        <p:spPr>
          <a:xfrm>
            <a:off x="7480460" y="5639414"/>
            <a:ext cx="617477" cy="2654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>
              <a:defRPr sz="1125" b="1" spc="0" baseline="0">
                <a:ln/>
                <a:latin typeface="宋体" panose="02010600030101010101" pitchFamily="2" charset="-122"/>
                <a:ea typeface="宋体" panose="02010600030101010101" pitchFamily="2" charset="-122"/>
                <a:rtl val="0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微软雅黑"/>
              </a:rPr>
              <a:t>元数据</a:t>
            </a:r>
          </a:p>
        </p:txBody>
      </p:sp>
      <p:sp>
        <p:nvSpPr>
          <p:cNvPr id="1048665" name="文本框 1048664">
            <a:extLst>
              <a:ext uri="{FF2B5EF4-FFF2-40B4-BE49-F238E27FC236}">
                <a16:creationId xmlns:a16="http://schemas.microsoft.com/office/drawing/2014/main" id="{986CDC1F-8EAB-927F-51AA-86F4703FF6BA}"/>
              </a:ext>
            </a:extLst>
          </p:cNvPr>
          <p:cNvSpPr txBox="1"/>
          <p:nvPr/>
        </p:nvSpPr>
        <p:spPr>
          <a:xfrm>
            <a:off x="3609625" y="3741315"/>
            <a:ext cx="555508" cy="4385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>
              <a:defRPr sz="1125" b="1" spc="0" baseline="0">
                <a:ln/>
                <a:latin typeface="宋体" panose="02010600030101010101" pitchFamily="2" charset="-122"/>
                <a:ea typeface="宋体" panose="02010600030101010101" pitchFamily="2" charset="-122"/>
                <a:rtl val="0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原始数据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66" name="文本框 1048665">
            <a:extLst>
              <a:ext uri="{FF2B5EF4-FFF2-40B4-BE49-F238E27FC236}">
                <a16:creationId xmlns:a16="http://schemas.microsoft.com/office/drawing/2014/main" id="{F16FD4A1-194C-5C01-C6F0-36D7CEE654BD}"/>
              </a:ext>
            </a:extLst>
          </p:cNvPr>
          <p:cNvSpPr txBox="1"/>
          <p:nvPr/>
        </p:nvSpPr>
        <p:spPr>
          <a:xfrm>
            <a:off x="3184320" y="3419751"/>
            <a:ext cx="1238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b="1" spc="0" baseline="0" dirty="0">
                <a:ln/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/>
                <a:rtl val="0"/>
              </a:rPr>
              <a:t>数据处理层</a:t>
            </a:r>
          </a:p>
        </p:txBody>
      </p:sp>
      <p:sp>
        <p:nvSpPr>
          <p:cNvPr id="1048667" name="文本框 1048666">
            <a:extLst>
              <a:ext uri="{FF2B5EF4-FFF2-40B4-BE49-F238E27FC236}">
                <a16:creationId xmlns:a16="http://schemas.microsoft.com/office/drawing/2014/main" id="{E0E040E4-EE72-0EDD-3407-5304A2183C9E}"/>
              </a:ext>
            </a:extLst>
          </p:cNvPr>
          <p:cNvSpPr txBox="1"/>
          <p:nvPr/>
        </p:nvSpPr>
        <p:spPr>
          <a:xfrm>
            <a:off x="3733694" y="5402810"/>
            <a:ext cx="28270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>
              <a:defRPr sz="1600" b="1" spc="0" baseline="0">
                <a:ln/>
                <a:latin typeface="宋体" panose="02010600030101010101" pitchFamily="2" charset="-122"/>
                <a:ea typeface="宋体" panose="02010600030101010101" pitchFamily="2" charset="-122"/>
                <a:rtl val="0"/>
              </a:defRPr>
            </a:lvl1pPr>
          </a:lstStyle>
          <a:p>
            <a:r>
              <a:rPr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微软雅黑"/>
              </a:rPr>
              <a:t>本体层</a:t>
            </a:r>
          </a:p>
        </p:txBody>
      </p:sp>
      <p:cxnSp>
        <p:nvCxnSpPr>
          <p:cNvPr id="169" name="连接符: 肘形 168">
            <a:extLst>
              <a:ext uri="{FF2B5EF4-FFF2-40B4-BE49-F238E27FC236}">
                <a16:creationId xmlns:a16="http://schemas.microsoft.com/office/drawing/2014/main" id="{456CD1DC-6AA3-D138-6A49-05D9B304C3E5}"/>
              </a:ext>
            </a:extLst>
          </p:cNvPr>
          <p:cNvCxnSpPr>
            <a:cxnSpLocks/>
            <a:stCxn id="171" idx="2"/>
            <a:endCxn id="1048658" idx="1"/>
          </p:cNvCxnSpPr>
          <p:nvPr/>
        </p:nvCxnSpPr>
        <p:spPr>
          <a:xfrm rot="16200000" flipH="1">
            <a:off x="7818356" y="4634729"/>
            <a:ext cx="1182166" cy="224171"/>
          </a:xfrm>
          <a:prstGeom prst="bentConnector2">
            <a:avLst/>
          </a:prstGeom>
          <a:ln w="31750">
            <a:solidFill>
              <a:schemeClr val="tx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>
            <a:extLst>
              <a:ext uri="{FF2B5EF4-FFF2-40B4-BE49-F238E27FC236}">
                <a16:creationId xmlns:a16="http://schemas.microsoft.com/office/drawing/2014/main" id="{0AFAE515-5F33-06C0-C864-FF8896132B64}"/>
              </a:ext>
            </a:extLst>
          </p:cNvPr>
          <p:cNvCxnSpPr>
            <a:cxnSpLocks/>
          </p:cNvCxnSpPr>
          <p:nvPr/>
        </p:nvCxnSpPr>
        <p:spPr>
          <a:xfrm flipV="1">
            <a:off x="7987573" y="4153931"/>
            <a:ext cx="519455" cy="8631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文本框 170">
            <a:extLst>
              <a:ext uri="{FF2B5EF4-FFF2-40B4-BE49-F238E27FC236}">
                <a16:creationId xmlns:a16="http://schemas.microsoft.com/office/drawing/2014/main" id="{A9C5758E-5363-7806-8839-26DF9D1C3AD4}"/>
              </a:ext>
            </a:extLst>
          </p:cNvPr>
          <p:cNvSpPr txBox="1"/>
          <p:nvPr/>
        </p:nvSpPr>
        <p:spPr>
          <a:xfrm>
            <a:off x="8047538" y="3717150"/>
            <a:ext cx="499631" cy="4385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>
              <a:defRPr sz="1125" b="1" spc="0" baseline="0">
                <a:ln/>
                <a:latin typeface="宋体" panose="02010600030101010101" pitchFamily="2" charset="-122"/>
                <a:ea typeface="宋体" panose="02010600030101010101" pitchFamily="2" charset="-122"/>
                <a:rtl val="0"/>
              </a:defRPr>
            </a:lvl1pPr>
          </a:lstStyle>
          <a:p>
            <a:r>
              <a:rPr lang="zh-CN" altLang="en-US" dirty="0">
                <a:sym typeface="微软雅黑"/>
              </a:rPr>
              <a:t>执行结果</a:t>
            </a:r>
          </a:p>
        </p:txBody>
      </p:sp>
      <p:cxnSp>
        <p:nvCxnSpPr>
          <p:cNvPr id="172" name="连接符: 肘形 171">
            <a:extLst>
              <a:ext uri="{FF2B5EF4-FFF2-40B4-BE49-F238E27FC236}">
                <a16:creationId xmlns:a16="http://schemas.microsoft.com/office/drawing/2014/main" id="{563106B4-AC55-473D-AD2F-4810D76E4C2A}"/>
              </a:ext>
            </a:extLst>
          </p:cNvPr>
          <p:cNvCxnSpPr>
            <a:cxnSpLocks/>
            <a:stCxn id="14" idx="0"/>
            <a:endCxn id="12" idx="0"/>
          </p:cNvCxnSpPr>
          <p:nvPr/>
        </p:nvCxnSpPr>
        <p:spPr>
          <a:xfrm rot="16200000" flipH="1" flipV="1">
            <a:off x="7544125" y="2454251"/>
            <a:ext cx="580" cy="2909809"/>
          </a:xfrm>
          <a:prstGeom prst="bentConnector3">
            <a:avLst>
              <a:gd name="adj1" fmla="val -26699655"/>
            </a:avLst>
          </a:prstGeom>
          <a:ln w="31750">
            <a:solidFill>
              <a:srgbClr val="0070C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文本框 172">
            <a:extLst>
              <a:ext uri="{FF2B5EF4-FFF2-40B4-BE49-F238E27FC236}">
                <a16:creationId xmlns:a16="http://schemas.microsoft.com/office/drawing/2014/main" id="{92D3A98C-206D-07D7-AC0E-B37F312F43EA}"/>
              </a:ext>
            </a:extLst>
          </p:cNvPr>
          <p:cNvSpPr txBox="1"/>
          <p:nvPr/>
        </p:nvSpPr>
        <p:spPr>
          <a:xfrm flipH="1">
            <a:off x="6720964" y="3470543"/>
            <a:ext cx="1826205" cy="26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125" b="1" dirty="0">
                <a:ln/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/>
                <a:rtl val="0"/>
              </a:rPr>
              <a:t>任务方案与工具更新</a:t>
            </a:r>
            <a:endParaRPr lang="zh-CN" altLang="en-US" sz="1125" b="1" spc="0" baseline="0" dirty="0">
              <a:ln/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/>
              <a:rtl val="0"/>
            </a:endParaRPr>
          </a:p>
        </p:txBody>
      </p:sp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BB4DB320-B694-A64F-56B6-73919D2B317A}"/>
              </a:ext>
            </a:extLst>
          </p:cNvPr>
          <p:cNvGrpSpPr/>
          <p:nvPr/>
        </p:nvGrpSpPr>
        <p:grpSpPr>
          <a:xfrm>
            <a:off x="1246239" y="5259596"/>
            <a:ext cx="1945621" cy="848985"/>
            <a:chOff x="-13099648" y="2570290"/>
            <a:chExt cx="2808126" cy="1147775"/>
          </a:xfrm>
        </p:grpSpPr>
        <p:cxnSp>
          <p:nvCxnSpPr>
            <p:cNvPr id="175" name="直接箭头连接符 174">
              <a:extLst>
                <a:ext uri="{FF2B5EF4-FFF2-40B4-BE49-F238E27FC236}">
                  <a16:creationId xmlns:a16="http://schemas.microsoft.com/office/drawing/2014/main" id="{277C316B-B2C1-5A73-E7D6-CBCFC5F9A5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3099648" y="2767373"/>
              <a:ext cx="913921" cy="0"/>
            </a:xfrm>
            <a:prstGeom prst="straightConnector1">
              <a:avLst/>
            </a:prstGeom>
            <a:ln w="31750">
              <a:solidFill>
                <a:schemeClr val="tx1"/>
              </a:solidFill>
              <a:prstDash val="dash"/>
              <a:headEnd type="stealth" w="med" len="med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文本框 175">
              <a:extLst>
                <a:ext uri="{FF2B5EF4-FFF2-40B4-BE49-F238E27FC236}">
                  <a16:creationId xmlns:a16="http://schemas.microsoft.com/office/drawing/2014/main" id="{0682D543-C4F8-24DE-BF09-3EAE36585732}"/>
                </a:ext>
              </a:extLst>
            </p:cNvPr>
            <p:cNvSpPr txBox="1"/>
            <p:nvPr/>
          </p:nvSpPr>
          <p:spPr>
            <a:xfrm>
              <a:off x="-12186698" y="2570290"/>
              <a:ext cx="1895176" cy="358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125" b="1" spc="0" baseline="0" dirty="0">
                  <a:ln/>
                  <a:latin typeface="宋体" panose="02010600030101010101" pitchFamily="2" charset="-122"/>
                  <a:ea typeface="宋体" panose="02010600030101010101" pitchFamily="2" charset="-122"/>
                  <a:sym typeface="微软雅黑"/>
                  <a:rtl val="0"/>
                </a:rPr>
                <a:t>本体</a:t>
              </a:r>
              <a:r>
                <a:rPr lang="en-US" altLang="zh-CN" sz="1125" b="1" spc="0" baseline="0" dirty="0">
                  <a:ln/>
                  <a:latin typeface="宋体" panose="02010600030101010101" pitchFamily="2" charset="-122"/>
                  <a:ea typeface="宋体" panose="02010600030101010101" pitchFamily="2" charset="-122"/>
                  <a:sym typeface="微软雅黑"/>
                  <a:rtl val="0"/>
                </a:rPr>
                <a:t>/</a:t>
              </a:r>
              <a:r>
                <a:rPr lang="zh-CN" altLang="en-US" sz="1125" b="1" dirty="0">
                  <a:ln/>
                  <a:latin typeface="宋体" panose="02010600030101010101" pitchFamily="2" charset="-122"/>
                  <a:ea typeface="宋体" panose="02010600030101010101" pitchFamily="2" charset="-122"/>
                  <a:sym typeface="微软雅黑"/>
                  <a:rtl val="0"/>
                </a:rPr>
                <a:t>约</a:t>
              </a:r>
              <a:r>
                <a:rPr lang="zh-CN" altLang="en-US" sz="1125" b="1" spc="0" baseline="0" dirty="0">
                  <a:ln/>
                  <a:latin typeface="宋体" panose="02010600030101010101" pitchFamily="2" charset="-122"/>
                  <a:ea typeface="宋体" panose="02010600030101010101" pitchFamily="2" charset="-122"/>
                  <a:sym typeface="微软雅黑"/>
                  <a:rtl val="0"/>
                </a:rPr>
                <a:t>束元数据</a:t>
              </a:r>
            </a:p>
          </p:txBody>
        </p:sp>
        <p:cxnSp>
          <p:nvCxnSpPr>
            <p:cNvPr id="177" name="直接箭头连接符 176">
              <a:extLst>
                <a:ext uri="{FF2B5EF4-FFF2-40B4-BE49-F238E27FC236}">
                  <a16:creationId xmlns:a16="http://schemas.microsoft.com/office/drawing/2014/main" id="{0B5644EC-EB93-FACA-527B-26898A012F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3099648" y="3529966"/>
              <a:ext cx="913921" cy="0"/>
            </a:xfrm>
            <a:prstGeom prst="straightConnector1">
              <a:avLst/>
            </a:prstGeom>
            <a:ln w="31750">
              <a:solidFill>
                <a:srgbClr val="0070C0"/>
              </a:solidFill>
              <a:prstDash val="solid"/>
              <a:headEnd type="none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E3E9A1AF-AADD-7A79-3C04-DEDC981FB6FD}"/>
                </a:ext>
              </a:extLst>
            </p:cNvPr>
            <p:cNvSpPr txBox="1"/>
            <p:nvPr/>
          </p:nvSpPr>
          <p:spPr>
            <a:xfrm>
              <a:off x="-12167860" y="3359184"/>
              <a:ext cx="891208" cy="358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125" b="1" dirty="0">
                  <a:ln/>
                  <a:latin typeface="宋体" panose="02010600030101010101" pitchFamily="2" charset="-122"/>
                  <a:ea typeface="宋体" panose="02010600030101010101" pitchFamily="2" charset="-122"/>
                  <a:sym typeface="微软雅黑"/>
                  <a:rtl val="0"/>
                </a:rPr>
                <a:t>演进流</a:t>
              </a:r>
              <a:endParaRPr lang="zh-CN" altLang="en-US" sz="1125" b="1" spc="0" baseline="0" dirty="0">
                <a:ln/>
                <a:latin typeface="宋体" panose="02010600030101010101" pitchFamily="2" charset="-122"/>
                <a:ea typeface="宋体" panose="02010600030101010101" pitchFamily="2" charset="-122"/>
                <a:sym typeface="微软雅黑"/>
                <a:rtl val="0"/>
              </a:endParaRPr>
            </a:p>
          </p:txBody>
        </p:sp>
        <p:cxnSp>
          <p:nvCxnSpPr>
            <p:cNvPr id="179" name="直接箭头连接符 178">
              <a:extLst>
                <a:ext uri="{FF2B5EF4-FFF2-40B4-BE49-F238E27FC236}">
                  <a16:creationId xmlns:a16="http://schemas.microsoft.com/office/drawing/2014/main" id="{23E57E67-A852-3147-53B8-383CA9D75E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3099648" y="3131778"/>
              <a:ext cx="91295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prstDash val="solid"/>
              <a:headEnd type="none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EA30083D-AFB6-4155-6E5D-BF67251D3A1E}"/>
                </a:ext>
              </a:extLst>
            </p:cNvPr>
            <p:cNvSpPr txBox="1"/>
            <p:nvPr/>
          </p:nvSpPr>
          <p:spPr>
            <a:xfrm>
              <a:off x="-12178188" y="2952337"/>
              <a:ext cx="1126138" cy="358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125" b="1" spc="0" baseline="0" dirty="0">
                  <a:ln/>
                  <a:latin typeface="宋体" panose="02010600030101010101" pitchFamily="2" charset="-122"/>
                  <a:ea typeface="宋体" panose="02010600030101010101" pitchFamily="2" charset="-122"/>
                  <a:sym typeface="微软雅黑"/>
                  <a:rtl val="0"/>
                </a:rPr>
                <a:t>执行流</a:t>
              </a: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54C2C97A-B256-A76A-C32A-AF28ECC43BB0}"/>
              </a:ext>
            </a:extLst>
          </p:cNvPr>
          <p:cNvSpPr txBox="1"/>
          <p:nvPr/>
        </p:nvSpPr>
        <p:spPr>
          <a:xfrm>
            <a:off x="1100880" y="3951346"/>
            <a:ext cx="116358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b="1" dirty="0">
                <a:ln/>
                <a:latin typeface="宋体" panose="02010600030101010101" pitchFamily="2" charset="-122"/>
                <a:ea typeface="宋体" panose="02010600030101010101" pitchFamily="2" charset="-122"/>
                <a:sym typeface="微软雅黑"/>
                <a:rtl val="0"/>
              </a:rPr>
              <a:t>业务数据</a:t>
            </a:r>
            <a:endParaRPr lang="en-US" altLang="zh-CN" sz="1100" b="1" dirty="0">
              <a:ln/>
              <a:latin typeface="宋体" panose="02010600030101010101" pitchFamily="2" charset="-122"/>
              <a:ea typeface="宋体" panose="02010600030101010101" pitchFamily="2" charset="-122"/>
              <a:sym typeface="微软雅黑"/>
              <a:rtl val="0"/>
            </a:endParaRPr>
          </a:p>
          <a:p>
            <a:pPr algn="ctr"/>
            <a:r>
              <a:rPr lang="zh-CN" altLang="en-US" sz="1100" b="1" dirty="0">
                <a:ln/>
                <a:latin typeface="宋体" panose="02010600030101010101" pitchFamily="2" charset="-122"/>
                <a:ea typeface="宋体" panose="02010600030101010101" pitchFamily="2" charset="-122"/>
                <a:sym typeface="微软雅黑"/>
                <a:rtl val="0"/>
              </a:rPr>
              <a:t>（文档、音频等）</a:t>
            </a:r>
            <a:endParaRPr lang="zh-CN" altLang="en-US" sz="1100" dirty="0"/>
          </a:p>
        </p:txBody>
      </p:sp>
      <p:cxnSp>
        <p:nvCxnSpPr>
          <p:cNvPr id="8" name="直接箭头连接符 1048646">
            <a:extLst>
              <a:ext uri="{FF2B5EF4-FFF2-40B4-BE49-F238E27FC236}">
                <a16:creationId xmlns:a16="http://schemas.microsoft.com/office/drawing/2014/main" id="{E794C0A0-21E8-3B78-5310-977A12AD42E6}"/>
              </a:ext>
            </a:extLst>
          </p:cNvPr>
          <p:cNvCxnSpPr>
            <a:cxnSpLocks/>
            <a:endCxn id="183" idx="1"/>
          </p:cNvCxnSpPr>
          <p:nvPr/>
        </p:nvCxnSpPr>
        <p:spPr>
          <a:xfrm>
            <a:off x="2113617" y="4137917"/>
            <a:ext cx="395693" cy="526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28994291-6B0C-059A-90CE-10D7DDFF9DE9}"/>
              </a:ext>
            </a:extLst>
          </p:cNvPr>
          <p:cNvSpPr/>
          <p:nvPr/>
        </p:nvSpPr>
        <p:spPr>
          <a:xfrm>
            <a:off x="4171272" y="3915970"/>
            <a:ext cx="963895" cy="468622"/>
          </a:xfrm>
          <a:prstGeom prst="rect">
            <a:avLst/>
          </a:prstGeom>
          <a:solidFill>
            <a:srgbClr val="2FC0B5">
              <a:alpha val="24781"/>
            </a:srgb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数据规则化</a:t>
            </a:r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</a:t>
            </a:r>
            <a:endParaRPr lang="zh-CN" altLang="en-US" sz="12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27A46D-209A-D8DA-9B7B-B1E0B5349371}"/>
              </a:ext>
            </a:extLst>
          </p:cNvPr>
          <p:cNvSpPr/>
          <p:nvPr/>
        </p:nvSpPr>
        <p:spPr>
          <a:xfrm>
            <a:off x="5607562" y="3909446"/>
            <a:ext cx="963895" cy="468622"/>
          </a:xfrm>
          <a:prstGeom prst="rect">
            <a:avLst/>
          </a:prstGeom>
          <a:solidFill>
            <a:srgbClr val="2FC0B5">
              <a:alpha val="24781"/>
            </a:srgb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任务规划</a:t>
            </a:r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</a:t>
            </a:r>
            <a:endParaRPr lang="zh-CN" altLang="en-US" sz="12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28A515E-348E-A27F-F612-6D31067219B8}"/>
              </a:ext>
            </a:extLst>
          </p:cNvPr>
          <p:cNvSpPr/>
          <p:nvPr/>
        </p:nvSpPr>
        <p:spPr>
          <a:xfrm>
            <a:off x="7032175" y="3908866"/>
            <a:ext cx="963895" cy="468622"/>
          </a:xfrm>
          <a:prstGeom prst="rect">
            <a:avLst/>
          </a:prstGeom>
          <a:solidFill>
            <a:srgbClr val="2FC0B5">
              <a:alpha val="24781"/>
            </a:srgb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行动执行</a:t>
            </a:r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</a:t>
            </a:r>
            <a:endParaRPr lang="zh-CN" altLang="en-US" sz="12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5FEA120-24EE-4016-8798-B94BAF64DE23}"/>
              </a:ext>
            </a:extLst>
          </p:cNvPr>
          <p:cNvSpPr/>
          <p:nvPr/>
        </p:nvSpPr>
        <p:spPr>
          <a:xfrm>
            <a:off x="8517371" y="3908866"/>
            <a:ext cx="963895" cy="468622"/>
          </a:xfrm>
          <a:prstGeom prst="rect">
            <a:avLst/>
          </a:prstGeom>
          <a:solidFill>
            <a:srgbClr val="2FC0B5">
              <a:alpha val="24781"/>
            </a:srgb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评估演进</a:t>
            </a:r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</a:t>
            </a:r>
            <a:endParaRPr lang="zh-CN" altLang="en-US" sz="12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B03060A-FBFD-BFB1-B017-18947D074DD9}"/>
              </a:ext>
            </a:extLst>
          </p:cNvPr>
          <p:cNvSpPr txBox="1"/>
          <p:nvPr/>
        </p:nvSpPr>
        <p:spPr>
          <a:xfrm>
            <a:off x="8751289" y="3419978"/>
            <a:ext cx="110226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>
              <a:defRPr sz="1600" b="1" spc="0" baseline="0">
                <a:ln/>
                <a:latin typeface="宋体" panose="02010600030101010101" pitchFamily="2" charset="-122"/>
                <a:ea typeface="宋体" panose="02010600030101010101" pitchFamily="2" charset="-122"/>
                <a:rtl val="0"/>
              </a:defRPr>
            </a:lvl1pPr>
          </a:lstStyle>
          <a:p>
            <a:r>
              <a:rPr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微软雅黑"/>
              </a:rPr>
              <a:t>系统演进层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21FC0F5-E2D7-1C2F-0C6E-2A9C10966E2E}"/>
              </a:ext>
            </a:extLst>
          </p:cNvPr>
          <p:cNvSpPr txBox="1"/>
          <p:nvPr/>
        </p:nvSpPr>
        <p:spPr>
          <a:xfrm>
            <a:off x="5544867" y="3416636"/>
            <a:ext cx="110226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>
              <a:defRPr sz="1600" b="1" spc="0" baseline="0">
                <a:ln/>
                <a:latin typeface="宋体" panose="02010600030101010101" pitchFamily="2" charset="-122"/>
                <a:ea typeface="宋体" panose="02010600030101010101" pitchFamily="2" charset="-122"/>
                <a:rtl val="0"/>
              </a:defRPr>
            </a:lvl1pPr>
          </a:lstStyle>
          <a:p>
            <a:r>
              <a:rPr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微软雅黑"/>
              </a:rPr>
              <a:t>业务执行层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标题 1"/>
          <p:cNvSpPr txBox="1"/>
          <p:nvPr/>
        </p:nvSpPr>
        <p:spPr bwMode="auto">
          <a:xfrm>
            <a:off x="157655" y="-21480"/>
            <a:ext cx="10294374" cy="580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数据接入方式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59074A7-D214-390D-61B0-154991AC0DBC}"/>
              </a:ext>
            </a:extLst>
          </p:cNvPr>
          <p:cNvGraphicFramePr>
            <a:graphicFrameLocks noGrp="1"/>
          </p:cNvGraphicFramePr>
          <p:nvPr/>
        </p:nvGraphicFramePr>
        <p:xfrm>
          <a:off x="1265848" y="1782713"/>
          <a:ext cx="9660303" cy="2560320"/>
        </p:xfrm>
        <a:graphic>
          <a:graphicData uri="http://schemas.openxmlformats.org/drawingml/2006/table">
            <a:tbl>
              <a:tblPr/>
              <a:tblGrid>
                <a:gridCol w="3220101">
                  <a:extLst>
                    <a:ext uri="{9D8B030D-6E8A-4147-A177-3AD203B41FA5}">
                      <a16:colId xmlns:a16="http://schemas.microsoft.com/office/drawing/2014/main" val="933182151"/>
                    </a:ext>
                  </a:extLst>
                </a:gridCol>
                <a:gridCol w="3220101">
                  <a:extLst>
                    <a:ext uri="{9D8B030D-6E8A-4147-A177-3AD203B41FA5}">
                      <a16:colId xmlns:a16="http://schemas.microsoft.com/office/drawing/2014/main" val="2096269189"/>
                    </a:ext>
                  </a:extLst>
                </a:gridCol>
                <a:gridCol w="3220101">
                  <a:extLst>
                    <a:ext uri="{9D8B030D-6E8A-4147-A177-3AD203B41FA5}">
                      <a16:colId xmlns:a16="http://schemas.microsoft.com/office/drawing/2014/main" val="1018313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数据类型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来源系统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接入方式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8246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巡查日志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林业巡查</a:t>
                      </a:r>
                      <a:r>
                        <a:rPr lang="en-US" dirty="0" err="1"/>
                        <a:t>APP、IoT</a:t>
                      </a:r>
                      <a:r>
                        <a:rPr lang="zh-CN" altLang="en-US" dirty="0"/>
                        <a:t>传感器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 API + Webhook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4636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林地档案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林业资源库、</a:t>
                      </a:r>
                      <a:r>
                        <a:rPr lang="en-US" dirty="0"/>
                        <a:t>GIS</a:t>
                      </a:r>
                      <a:r>
                        <a:rPr lang="zh-CN" altLang="en-US" dirty="0"/>
                        <a:t>系统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SFTP</a:t>
                      </a:r>
                      <a:r>
                        <a:rPr lang="zh-CN" altLang="en-US" dirty="0"/>
                        <a:t>定时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5162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卫星影像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林业部门遥感中心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SFTP</a:t>
                      </a:r>
                      <a:r>
                        <a:rPr lang="zh-CN" altLang="en-US" dirty="0"/>
                        <a:t>定时 </a:t>
                      </a:r>
                      <a:r>
                        <a:rPr lang="en-US" altLang="zh-CN" dirty="0"/>
                        <a:t>+ </a:t>
                      </a:r>
                      <a:r>
                        <a:rPr lang="en-US" dirty="0"/>
                        <a:t>HTTP</a:t>
                      </a:r>
                      <a:r>
                        <a:rPr lang="zh-CN" altLang="en-US" dirty="0"/>
                        <a:t>大文件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080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灾害预警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气象部门、应急部门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消息队列 </a:t>
                      </a:r>
                      <a:r>
                        <a:rPr lang="en-US" altLang="zh-CN" dirty="0"/>
                        <a:t>+ </a:t>
                      </a:r>
                      <a:r>
                        <a:rPr lang="zh-CN" altLang="en-US" dirty="0"/>
                        <a:t>共享交换平台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0208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highlight>
                            <a:srgbClr val="FFFF00"/>
                          </a:highlight>
                        </a:rPr>
                        <a:t>审批文书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highlight>
                            <a:srgbClr val="FFFF00"/>
                          </a:highlight>
                        </a:rPr>
                        <a:t>林业政务</a:t>
                      </a: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OA</a:t>
                      </a:r>
                      <a:r>
                        <a:rPr lang="zh-CN" altLang="en-US" dirty="0">
                          <a:highlight>
                            <a:srgbClr val="FFFF00"/>
                          </a:highlight>
                        </a:rPr>
                        <a:t>系统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SDK</a:t>
                      </a:r>
                      <a:r>
                        <a:rPr lang="zh-CN" altLang="en-US" dirty="0">
                          <a:highlight>
                            <a:srgbClr val="FFFF00"/>
                          </a:highlight>
                        </a:rPr>
                        <a:t>集成 </a:t>
                      </a:r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+ </a:t>
                      </a: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REST 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847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督查反馈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人工上传、检查表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Web</a:t>
                      </a:r>
                      <a:r>
                        <a:rPr lang="zh-CN" altLang="en-US" dirty="0"/>
                        <a:t>门户 </a:t>
                      </a:r>
                      <a:r>
                        <a:rPr lang="en-US" altLang="zh-CN" dirty="0"/>
                        <a:t>+ </a:t>
                      </a:r>
                      <a:r>
                        <a:rPr lang="en-US" dirty="0"/>
                        <a:t>REST 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1318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558212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标题 1"/>
          <p:cNvSpPr txBox="1"/>
          <p:nvPr/>
        </p:nvSpPr>
        <p:spPr bwMode="auto">
          <a:xfrm>
            <a:off x="157655" y="-21480"/>
            <a:ext cx="10294374" cy="580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研究内容二：基于多模态处理与</a:t>
            </a:r>
            <a:r>
              <a:rPr lang="en-US" altLang="zh-CN" sz="24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AI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智能体</a:t>
            </a:r>
            <a:r>
              <a:rPr lang="zh-CN" altLang="en-US" sz="24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编排的数据规则化方法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7655" y="619852"/>
            <a:ext cx="11605260" cy="10140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lvl="1" indent="-285750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研究问题：</a:t>
            </a:r>
            <a:r>
              <a:rPr lang="zh-CN" altLang="en-US" sz="1600" b="1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如何实现</a:t>
            </a:r>
            <a:r>
              <a:rPr lang="en-US" altLang="zh-CN" sz="1600" b="1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PDF</a:t>
            </a:r>
            <a:r>
              <a:rPr lang="zh-CN" altLang="en-US" sz="1600" b="1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、图像、表格、音视频等多源异构数据向标准化、可追溯知识的自动转换，并保留数据来源和处理过程信息？</a:t>
            </a:r>
            <a:endParaRPr lang="en-US" altLang="zh-CN" sz="1600" b="1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lvl="1" indent="-285750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r>
              <a:rPr lang="zh-CN" altLang="en-US" sz="1600" b="1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研究方法：</a:t>
            </a:r>
            <a:endParaRPr lang="en-US" altLang="zh-CN" sz="1600" b="1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1" indent="-285750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endParaRPr lang="en-US" altLang="zh-CN" sz="1600" b="1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1" indent="-285750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endParaRPr lang="en-US" altLang="zh-CN" sz="1600" b="1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1" indent="-285750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endParaRPr lang="en-US" altLang="zh-CN" sz="1600" b="1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1" indent="-285750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endParaRPr lang="en-US" altLang="zh-CN" sz="1600" b="1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1" indent="-285750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endParaRPr lang="en-US" altLang="zh-CN" sz="1600" b="1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1" indent="-285750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endParaRPr lang="en-US" altLang="zh-CN" sz="1600" b="1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1" indent="-285750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endParaRPr lang="en-US" altLang="zh-CN" sz="1600" b="1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1" indent="-285750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r>
              <a:rPr lang="zh-CN" altLang="en-US" sz="1600" b="1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实验验证：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35794" y="5143959"/>
            <a:ext cx="5964025" cy="14852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400" dirty="0">
                <a:highlight>
                  <a:srgbClr val="8EC223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在包含</a:t>
            </a:r>
            <a:r>
              <a:rPr lang="en-US" altLang="zh-CN" sz="1400" dirty="0">
                <a:highlight>
                  <a:srgbClr val="8EC223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</a:t>
            </a:r>
            <a:r>
              <a:rPr lang="zh-CN" altLang="en-US" sz="1400" dirty="0">
                <a:highlight>
                  <a:srgbClr val="8EC223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、图像、表格、音频和视频等多模态数据的测试集上，对本方案与传统单一工具处理方案进行对比测试，评价关键字段识别准确率和数据处理效率。其中，项目名称、申请主体、等关键字段的识别准确率应达到</a:t>
            </a:r>
            <a:r>
              <a:rPr lang="en-US" altLang="zh-CN" sz="1400" dirty="0">
                <a:highlight>
                  <a:srgbClr val="8EC223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85%</a:t>
            </a:r>
            <a:r>
              <a:rPr lang="zh-CN" altLang="en-US" sz="1400" dirty="0">
                <a:highlight>
                  <a:srgbClr val="8EC223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以上；在保证识别准确率稳定的前提下，单位数据平均处理时间较传统单一工具方案缩短</a:t>
            </a:r>
            <a:r>
              <a:rPr lang="en-US" altLang="zh-CN" sz="1400" dirty="0">
                <a:highlight>
                  <a:srgbClr val="8EC223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10%</a:t>
            </a:r>
            <a:r>
              <a:rPr lang="zh-CN" altLang="en-US" sz="1400" dirty="0">
                <a:highlight>
                  <a:srgbClr val="8EC223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以上。</a:t>
            </a:r>
            <a:endParaRPr lang="en-US" altLang="zh-CN" sz="1600" dirty="0">
              <a:highlight>
                <a:srgbClr val="8EC223"/>
              </a:highlight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36943" y="1448298"/>
            <a:ext cx="6130290" cy="5272541"/>
          </a:xfrm>
          <a:prstGeom prst="rect">
            <a:avLst/>
          </a:prstGeom>
          <a:noFill/>
          <a:ln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6533636" y="1457935"/>
            <a:ext cx="5335270" cy="5262903"/>
          </a:xfrm>
          <a:prstGeom prst="rect">
            <a:avLst/>
          </a:prstGeom>
          <a:noFill/>
          <a:ln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80A56C8-B162-7E95-13B0-FB49903C2E2B}"/>
              </a:ext>
            </a:extLst>
          </p:cNvPr>
          <p:cNvGrpSpPr/>
          <p:nvPr/>
        </p:nvGrpSpPr>
        <p:grpSpPr>
          <a:xfrm>
            <a:off x="7435010" y="2033896"/>
            <a:ext cx="3904054" cy="4595311"/>
            <a:chOff x="2697463" y="711145"/>
            <a:chExt cx="3904054" cy="459531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5FF8B2A-D155-81F6-930F-68C27F787660}"/>
                </a:ext>
              </a:extLst>
            </p:cNvPr>
            <p:cNvSpPr/>
            <p:nvPr/>
          </p:nvSpPr>
          <p:spPr>
            <a:xfrm>
              <a:off x="3459334" y="1384318"/>
              <a:ext cx="2823542" cy="461665"/>
            </a:xfrm>
            <a:prstGeom prst="rect">
              <a:avLst/>
            </a:prstGeom>
            <a:solidFill>
              <a:srgbClr val="EFF6FF"/>
            </a:solidFill>
            <a:ln w="28575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344C9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数据模态识别与分类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344C9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44C9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（</a:t>
              </a:r>
              <a:r>
                <a:rPr kumimoji="0" lang="zh-CN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44C9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轻量级分类器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44C9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344C9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5D984D3-2007-B804-D68D-C78EC2C0FE79}"/>
                </a:ext>
              </a:extLst>
            </p:cNvPr>
            <p:cNvSpPr/>
            <p:nvPr/>
          </p:nvSpPr>
          <p:spPr>
            <a:xfrm>
              <a:off x="3475651" y="2125442"/>
              <a:ext cx="2823542" cy="460939"/>
            </a:xfrm>
            <a:prstGeom prst="rect">
              <a:avLst/>
            </a:prstGeom>
            <a:solidFill>
              <a:srgbClr val="EFF6FF"/>
            </a:solidFill>
            <a:ln w="28575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344C9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解析规划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344C9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44C9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（处理方案生成与工具选择）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2D6BEE0-F2E1-C6AF-B2F3-1CAA137F10E5}"/>
                </a:ext>
              </a:extLst>
            </p:cNvPr>
            <p:cNvSpPr/>
            <p:nvPr/>
          </p:nvSpPr>
          <p:spPr>
            <a:xfrm>
              <a:off x="3478964" y="2858343"/>
              <a:ext cx="2822400" cy="461665"/>
            </a:xfrm>
            <a:prstGeom prst="rect">
              <a:avLst/>
            </a:prstGeom>
            <a:solidFill>
              <a:srgbClr val="EFF6FF"/>
            </a:solidFill>
            <a:ln w="28575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344C9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方案执行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344C9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44C9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（清洗、转写、去噪、表格解析等）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25DEDE5-24BC-441B-EFCF-799DA93A95D8}"/>
                </a:ext>
              </a:extLst>
            </p:cNvPr>
            <p:cNvSpPr/>
            <p:nvPr/>
          </p:nvSpPr>
          <p:spPr>
            <a:xfrm>
              <a:off x="3475651" y="3596969"/>
              <a:ext cx="2822400" cy="461665"/>
            </a:xfrm>
            <a:prstGeom prst="rect">
              <a:avLst/>
            </a:prstGeom>
            <a:solidFill>
              <a:srgbClr val="EFF6FF"/>
            </a:solidFill>
            <a:ln w="28575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344C9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质量校验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344C9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44C9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（计算质量指标并进行评估）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EE40354-42EB-57BE-3C44-7C23D83CC95B}"/>
                </a:ext>
              </a:extLst>
            </p:cNvPr>
            <p:cNvSpPr/>
            <p:nvPr/>
          </p:nvSpPr>
          <p:spPr>
            <a:xfrm>
              <a:off x="3488351" y="4313629"/>
              <a:ext cx="2822400" cy="461665"/>
            </a:xfrm>
            <a:prstGeom prst="rect">
              <a:avLst/>
            </a:prstGeom>
            <a:solidFill>
              <a:srgbClr val="EFF6FF"/>
            </a:solidFill>
            <a:ln w="28575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344C9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标准化与数据源绑定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344C9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44C9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（统一字段、编码</a:t>
              </a:r>
              <a:r>
                <a:rPr lang="zh-CN" altLang="en-US" sz="1200" kern="0" dirty="0">
                  <a:solidFill>
                    <a:srgbClr val="344C9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、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44C9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单位</a:t>
              </a:r>
              <a:r>
                <a:rPr lang="zh-CN" altLang="en-US" sz="1200" kern="0" dirty="0">
                  <a:solidFill>
                    <a:srgbClr val="344C9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、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44C9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格式）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BE26444-D398-F666-8D64-FFD75B6B8C9C}"/>
                </a:ext>
              </a:extLst>
            </p:cNvPr>
            <p:cNvSpPr txBox="1"/>
            <p:nvPr/>
          </p:nvSpPr>
          <p:spPr>
            <a:xfrm>
              <a:off x="4871106" y="1837744"/>
              <a:ext cx="8425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模态标签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6805ADA4-4579-26E3-228C-5E741BB26922}"/>
                </a:ext>
              </a:extLst>
            </p:cNvPr>
            <p:cNvSpPr txBox="1"/>
            <p:nvPr/>
          </p:nvSpPr>
          <p:spPr>
            <a:xfrm>
              <a:off x="4858013" y="2578104"/>
              <a:ext cx="11359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工具调用方案</a:t>
              </a:r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E44179F8-62BC-8B94-D901-B63BA4D917D0}"/>
                </a:ext>
              </a:extLst>
            </p:cNvPr>
            <p:cNvCxnSpPr>
              <a:cxnSpLocks/>
              <a:stCxn id="5" idx="2"/>
              <a:endCxn id="8" idx="0"/>
            </p:cNvCxnSpPr>
            <p:nvPr/>
          </p:nvCxnSpPr>
          <p:spPr>
            <a:xfrm>
              <a:off x="4887422" y="2586381"/>
              <a:ext cx="0" cy="271962"/>
            </a:xfrm>
            <a:prstGeom prst="straightConnector1">
              <a:avLst/>
            </a:prstGeom>
            <a:noFill/>
            <a:ln w="31750" cap="flat" cmpd="sng" algn="ctr">
              <a:solidFill>
                <a:sysClr val="windowText" lastClr="000000"/>
              </a:solidFill>
              <a:prstDash val="solid"/>
              <a:miter lim="800000"/>
              <a:headEnd type="none" w="lg" len="lg"/>
              <a:tailEnd type="stealth"/>
            </a:ln>
            <a:effectLst/>
          </p:spPr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52233828-B6F5-7190-084F-539F61C77B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80421" y="1857663"/>
              <a:ext cx="857" cy="259200"/>
            </a:xfrm>
            <a:prstGeom prst="straightConnector1">
              <a:avLst/>
            </a:prstGeom>
            <a:noFill/>
            <a:ln w="31750" cap="flat" cmpd="sng" algn="ctr">
              <a:solidFill>
                <a:sysClr val="windowText" lastClr="000000"/>
              </a:solidFill>
              <a:prstDash val="solid"/>
              <a:miter lim="800000"/>
              <a:headEnd type="none" w="lg" len="lg"/>
              <a:tailEnd type="stealth"/>
            </a:ln>
            <a:effectLst/>
          </p:spPr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DEFC6BC4-A9BE-0C5A-C635-5AED6CFA0E24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4890164" y="3320008"/>
              <a:ext cx="0" cy="259200"/>
            </a:xfrm>
            <a:prstGeom prst="straightConnector1">
              <a:avLst/>
            </a:prstGeom>
            <a:noFill/>
            <a:ln w="31750" cap="flat" cmpd="sng" algn="ctr">
              <a:solidFill>
                <a:sysClr val="windowText" lastClr="000000"/>
              </a:solidFill>
              <a:prstDash val="solid"/>
              <a:miter lim="800000"/>
              <a:headEnd type="none" w="lg" len="lg"/>
              <a:tailEnd type="stealth"/>
            </a:ln>
            <a:effectLst/>
          </p:spPr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38A26E3B-DF12-96EA-3390-ED4290C8AC14}"/>
                </a:ext>
              </a:extLst>
            </p:cNvPr>
            <p:cNvSpPr txBox="1"/>
            <p:nvPr/>
          </p:nvSpPr>
          <p:spPr>
            <a:xfrm>
              <a:off x="4869893" y="3321869"/>
              <a:ext cx="798459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执行结果</a:t>
              </a:r>
            </a:p>
          </p:txBody>
        </p: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6B378257-52D0-EB70-78D6-E80347DEC9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86851" y="4058634"/>
              <a:ext cx="857" cy="259200"/>
            </a:xfrm>
            <a:prstGeom prst="straightConnector1">
              <a:avLst/>
            </a:prstGeom>
            <a:noFill/>
            <a:ln w="31750" cap="flat" cmpd="sng" algn="ctr">
              <a:solidFill>
                <a:sysClr val="windowText" lastClr="000000"/>
              </a:solidFill>
              <a:prstDash val="solid"/>
              <a:miter lim="800000"/>
              <a:headEnd type="none" w="lg" len="lg"/>
              <a:tailEnd type="stealth"/>
            </a:ln>
            <a:effectLst/>
          </p:spPr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280B3EC2-1706-49AD-09B5-90B900F80B15}"/>
                </a:ext>
              </a:extLst>
            </p:cNvPr>
            <p:cNvSpPr txBox="1"/>
            <p:nvPr/>
          </p:nvSpPr>
          <p:spPr>
            <a:xfrm>
              <a:off x="4889391" y="4048649"/>
              <a:ext cx="798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校验合格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2AE11F98-1A90-F1A9-93CA-A04CA4E660A8}"/>
                </a:ext>
              </a:extLst>
            </p:cNvPr>
            <p:cNvSpPr txBox="1"/>
            <p:nvPr/>
          </p:nvSpPr>
          <p:spPr>
            <a:xfrm>
              <a:off x="2697463" y="2691251"/>
              <a:ext cx="6069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校验不合格</a:t>
              </a:r>
            </a:p>
          </p:txBody>
        </p:sp>
        <p:cxnSp>
          <p:nvCxnSpPr>
            <p:cNvPr id="35" name="连接符: 肘形 34">
              <a:extLst>
                <a:ext uri="{FF2B5EF4-FFF2-40B4-BE49-F238E27FC236}">
                  <a16:creationId xmlns:a16="http://schemas.microsoft.com/office/drawing/2014/main" id="{5088D8C8-18E7-B878-5A99-81565A82FF30}"/>
                </a:ext>
              </a:extLst>
            </p:cNvPr>
            <p:cNvCxnSpPr>
              <a:cxnSpLocks/>
              <a:stCxn id="21" idx="1"/>
              <a:endCxn id="5" idx="1"/>
            </p:cNvCxnSpPr>
            <p:nvPr/>
          </p:nvCxnSpPr>
          <p:spPr>
            <a:xfrm rot="10800000">
              <a:off x="3475651" y="2355912"/>
              <a:ext cx="12700" cy="1471890"/>
            </a:xfrm>
            <a:prstGeom prst="bentConnector3">
              <a:avLst>
                <a:gd name="adj1" fmla="val 1800000"/>
              </a:avLst>
            </a:prstGeom>
            <a:noFill/>
            <a:ln w="31750" cap="flat" cmpd="sng" algn="ctr">
              <a:solidFill>
                <a:sysClr val="windowText" lastClr="000000"/>
              </a:solidFill>
              <a:prstDash val="solid"/>
              <a:miter lim="800000"/>
              <a:headEnd type="none" w="lg" len="lg"/>
              <a:tailEnd type="triangle"/>
            </a:ln>
            <a:effectLst/>
          </p:spPr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CF0E45C3-29F7-0CD8-D674-20C85FFC1CDA}"/>
                </a:ext>
              </a:extLst>
            </p:cNvPr>
            <p:cNvSpPr txBox="1"/>
            <p:nvPr/>
          </p:nvSpPr>
          <p:spPr>
            <a:xfrm>
              <a:off x="4651361" y="5029457"/>
              <a:ext cx="19501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R="0" lvl="0" indent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</a:lstStyle>
            <a:p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业务对象</a:t>
              </a:r>
            </a:p>
          </p:txBody>
        </p: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B4992FEB-A04B-438D-E2BE-918A6A7EF781}"/>
                </a:ext>
              </a:extLst>
            </p:cNvPr>
            <p:cNvCxnSpPr>
              <a:cxnSpLocks/>
            </p:cNvCxnSpPr>
            <p:nvPr/>
          </p:nvCxnSpPr>
          <p:spPr>
            <a:xfrm>
              <a:off x="4115602" y="4775294"/>
              <a:ext cx="0" cy="306407"/>
            </a:xfrm>
            <a:prstGeom prst="straightConnector1">
              <a:avLst/>
            </a:prstGeom>
            <a:noFill/>
            <a:ln w="31750" cap="flat" cmpd="sng" algn="ctr">
              <a:solidFill>
                <a:sysClr val="windowText" lastClr="000000"/>
              </a:solidFill>
              <a:prstDash val="solid"/>
              <a:miter lim="800000"/>
              <a:headEnd type="none" w="lg" len="lg"/>
              <a:tailEnd type="stealth"/>
            </a:ln>
            <a:effectLst/>
          </p:spPr>
        </p:cxn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65D986DA-F93D-D083-2406-55A562E3F1EC}"/>
                </a:ext>
              </a:extLst>
            </p:cNvPr>
            <p:cNvSpPr/>
            <p:nvPr/>
          </p:nvSpPr>
          <p:spPr>
            <a:xfrm>
              <a:off x="3457717" y="713090"/>
              <a:ext cx="1317484" cy="432629"/>
            </a:xfrm>
            <a:prstGeom prst="rect">
              <a:avLst/>
            </a:prstGeom>
            <a:solidFill>
              <a:srgbClr val="EFF6FF"/>
            </a:solidFill>
            <a:ln w="28575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344C9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人工上传接入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344C9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44C9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（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44C9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Web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44C9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批量上传）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344C9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38429083-5DD5-D657-789B-EF1F241AE863}"/>
                </a:ext>
              </a:extLst>
            </p:cNvPr>
            <p:cNvSpPr/>
            <p:nvPr/>
          </p:nvSpPr>
          <p:spPr>
            <a:xfrm>
              <a:off x="4965276" y="711145"/>
              <a:ext cx="1317600" cy="432628"/>
            </a:xfrm>
            <a:prstGeom prst="rect">
              <a:avLst/>
            </a:prstGeom>
            <a:solidFill>
              <a:srgbClr val="EFF6FF"/>
            </a:solidFill>
            <a:ln w="28575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344C9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API 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344C9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主动接入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344C9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44C9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（事件触发读取）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344C9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7251D136-DC13-AC20-973B-8FF9AF8A8BC7}"/>
                </a:ext>
              </a:extLst>
            </p:cNvPr>
            <p:cNvCxnSpPr>
              <a:cxnSpLocks/>
            </p:cNvCxnSpPr>
            <p:nvPr/>
          </p:nvCxnSpPr>
          <p:spPr>
            <a:xfrm>
              <a:off x="4116459" y="1143617"/>
              <a:ext cx="0" cy="248833"/>
            </a:xfrm>
            <a:prstGeom prst="straightConnector1">
              <a:avLst/>
            </a:prstGeom>
            <a:noFill/>
            <a:ln w="31750" cap="flat" cmpd="sng" algn="ctr">
              <a:solidFill>
                <a:sysClr val="windowText" lastClr="000000"/>
              </a:solidFill>
              <a:prstDash val="solid"/>
              <a:miter lim="800000"/>
              <a:headEnd type="none" w="lg" len="lg"/>
              <a:tailEnd type="stealth"/>
            </a:ln>
            <a:effectLst/>
          </p:spPr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CFBAF7FD-CFF6-2FBC-796F-7EAAE5C750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3219" y="1133250"/>
              <a:ext cx="857" cy="259200"/>
            </a:xfrm>
            <a:prstGeom prst="straightConnector1">
              <a:avLst/>
            </a:prstGeom>
            <a:noFill/>
            <a:ln w="31750" cap="flat" cmpd="sng" algn="ctr">
              <a:solidFill>
                <a:sysClr val="windowText" lastClr="000000"/>
              </a:solidFill>
              <a:prstDash val="solid"/>
              <a:miter lim="800000"/>
              <a:headEnd type="none" w="lg" len="lg"/>
              <a:tailEnd type="stealth"/>
            </a:ln>
            <a:effectLst/>
          </p:spPr>
        </p:cxn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90403E63-A559-EA79-7078-417467C74F24}"/>
                </a:ext>
              </a:extLst>
            </p:cNvPr>
            <p:cNvSpPr txBox="1"/>
            <p:nvPr/>
          </p:nvSpPr>
          <p:spPr>
            <a:xfrm>
              <a:off x="4115602" y="1122121"/>
              <a:ext cx="9006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原始数据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2DB63ADA-9D46-8F9B-1C57-DF5F8519BAB3}"/>
                </a:ext>
              </a:extLst>
            </p:cNvPr>
            <p:cNvSpPr txBox="1"/>
            <p:nvPr/>
          </p:nvSpPr>
          <p:spPr>
            <a:xfrm>
              <a:off x="5605799" y="1119570"/>
              <a:ext cx="9006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原始数据</a:t>
              </a:r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0897E43E-F1A7-2724-50E1-A67C52116D49}"/>
              </a:ext>
            </a:extLst>
          </p:cNvPr>
          <p:cNvSpPr txBox="1"/>
          <p:nvPr/>
        </p:nvSpPr>
        <p:spPr>
          <a:xfrm>
            <a:off x="8293312" y="6358710"/>
            <a:ext cx="1119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规则化数据</a:t>
            </a: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D75A835F-B895-577B-8348-629972471B2A}"/>
              </a:ext>
            </a:extLst>
          </p:cNvPr>
          <p:cNvCxnSpPr>
            <a:cxnSpLocks/>
          </p:cNvCxnSpPr>
          <p:nvPr/>
        </p:nvCxnSpPr>
        <p:spPr>
          <a:xfrm>
            <a:off x="10359909" y="6098045"/>
            <a:ext cx="0" cy="306407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miter lim="800000"/>
            <a:headEnd type="none" w="lg" len="lg"/>
            <a:tailEnd type="stealth"/>
          </a:ln>
          <a:effectLst/>
        </p:spPr>
      </p:cxnSp>
      <p:sp>
        <p:nvSpPr>
          <p:cNvPr id="121" name="文本框 120">
            <a:extLst>
              <a:ext uri="{FF2B5EF4-FFF2-40B4-BE49-F238E27FC236}">
                <a16:creationId xmlns:a16="http://schemas.microsoft.com/office/drawing/2014/main" id="{ECED744C-FAB2-FC12-EA69-DE5914B37C79}"/>
              </a:ext>
            </a:extLst>
          </p:cNvPr>
          <p:cNvSpPr txBox="1"/>
          <p:nvPr/>
        </p:nvSpPr>
        <p:spPr>
          <a:xfrm>
            <a:off x="236942" y="1635111"/>
            <a:ext cx="5911368" cy="3439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sz="14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通过</a:t>
            </a:r>
            <a:r>
              <a:rPr lang="en-US" altLang="zh-CN" sz="14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REST API</a:t>
            </a:r>
            <a:r>
              <a:rPr lang="zh-CN" altLang="en-US" sz="14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4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Webhook</a:t>
            </a:r>
            <a:r>
              <a:rPr lang="zh-CN" altLang="en-US" sz="14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4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SFTP</a:t>
            </a:r>
            <a:r>
              <a:rPr lang="zh-CN" altLang="en-US" sz="14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、消息队列和 </a:t>
            </a:r>
            <a:r>
              <a:rPr lang="en-US" altLang="zh-CN" sz="14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SDK </a:t>
            </a:r>
            <a:r>
              <a:rPr lang="zh-CN" altLang="en-US" sz="14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集成等方式接入原始数据</a:t>
            </a: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，结合多模态表征与时序定位技术，建立统一的数据模态识别与来源定位模型，实现 </a:t>
            </a:r>
            <a:r>
              <a:rPr lang="en-US" altLang="zh-CN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PDF</a:t>
            </a: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、图像、表格、音频、视频等业务数据的统一语义表示与原始位置精准回溯。</a:t>
            </a:r>
            <a:endParaRPr lang="en-US" altLang="zh-CN" sz="1400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lvl="1" indent="-285750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结合</a:t>
            </a:r>
            <a:r>
              <a:rPr lang="en-US" altLang="zh-CN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Agent</a:t>
            </a: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任务拆解与自适应工具路由技术，建立基于模态标签与业务目标的动态编排处理方法，实现 </a:t>
            </a:r>
            <a:r>
              <a:rPr lang="en-US" altLang="zh-CN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OCR</a:t>
            </a: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、图像去噪、表格解析、音视频转写工具的自动选择与组合。</a:t>
            </a:r>
            <a:endParaRPr lang="en-US" altLang="zh-CN" sz="1400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lvl="1" indent="-285750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建立多维度性能评估体系与标准化映射技术，构建“质检</a:t>
            </a:r>
            <a:r>
              <a:rPr lang="en-US" altLang="zh-CN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重处理</a:t>
            </a:r>
            <a:r>
              <a:rPr lang="en-US" altLang="zh-CN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标准化输出“机制，实现规则化数据质量的自动判定、统一字段</a:t>
            </a:r>
            <a:r>
              <a:rPr lang="en-US" altLang="zh-CN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编码</a:t>
            </a:r>
            <a:r>
              <a:rPr lang="en-US" altLang="zh-CN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单位</a:t>
            </a:r>
            <a:r>
              <a:rPr lang="en-US" altLang="zh-CN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格式转换及不合格结果的自动回流重处理。</a:t>
            </a:r>
          </a:p>
        </p:txBody>
      </p:sp>
      <p:sp>
        <p:nvSpPr>
          <p:cNvPr id="123" name="Google Shape;158;p16">
            <a:extLst>
              <a:ext uri="{FF2B5EF4-FFF2-40B4-BE49-F238E27FC236}">
                <a16:creationId xmlns:a16="http://schemas.microsoft.com/office/drawing/2014/main" id="{35ED7FD8-BD8F-8DCE-2ADD-A1E03497B595}"/>
              </a:ext>
            </a:extLst>
          </p:cNvPr>
          <p:cNvSpPr txBox="1"/>
          <p:nvPr/>
        </p:nvSpPr>
        <p:spPr>
          <a:xfrm>
            <a:off x="6557308" y="1558762"/>
            <a:ext cx="146494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p"/>
            </a:pPr>
            <a:r>
              <a:rPr lang="en-US" sz="1600" b="1" dirty="0" err="1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技术流程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：</a:t>
            </a:r>
            <a:endParaRPr lang="en-US" sz="16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85F224-EA3C-2319-8828-B349CB8A94A5}"/>
              </a:ext>
            </a:extLst>
          </p:cNvPr>
          <p:cNvSpPr txBox="1"/>
          <p:nvPr/>
        </p:nvSpPr>
        <p:spPr>
          <a:xfrm>
            <a:off x="8435350" y="1429726"/>
            <a:ext cx="2346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n/>
                <a:latin typeface="宋体" panose="02010600030101010101" pitchFamily="2" charset="-122"/>
                <a:ea typeface="宋体" panose="02010600030101010101" pitchFamily="2" charset="-122"/>
                <a:sym typeface="微软雅黑"/>
                <a:rtl val="0"/>
              </a:rPr>
              <a:t>业务数据</a:t>
            </a:r>
            <a:endParaRPr lang="en-US" altLang="zh-CN" sz="1200" b="1" dirty="0">
              <a:ln/>
              <a:latin typeface="宋体" panose="02010600030101010101" pitchFamily="2" charset="-122"/>
              <a:ea typeface="宋体" panose="02010600030101010101" pitchFamily="2" charset="-122"/>
              <a:sym typeface="微软雅黑"/>
              <a:rtl val="0"/>
            </a:endParaRPr>
          </a:p>
          <a:p>
            <a:pPr algn="ctr"/>
            <a:r>
              <a:rPr lang="zh-CN" altLang="en-US" sz="1200" b="1" dirty="0">
                <a:ln/>
                <a:latin typeface="宋体" panose="02010600030101010101" pitchFamily="2" charset="-122"/>
                <a:ea typeface="宋体" panose="02010600030101010101" pitchFamily="2" charset="-122"/>
                <a:sym typeface="微软雅黑"/>
                <a:rtl val="0"/>
              </a:rPr>
              <a:t>（</a:t>
            </a:r>
            <a:r>
              <a:rPr lang="en-US" altLang="zh-CN" sz="1200" b="1" dirty="0">
                <a:ln/>
                <a:latin typeface="宋体" panose="02010600030101010101" pitchFamily="2" charset="-122"/>
                <a:ea typeface="宋体" panose="02010600030101010101" pitchFamily="2" charset="-122"/>
                <a:sym typeface="微软雅黑"/>
                <a:rtl val="0"/>
              </a:rPr>
              <a:t>PDF</a:t>
            </a:r>
            <a:r>
              <a:rPr lang="zh-CN" altLang="en-US" sz="1200" b="1" dirty="0">
                <a:ln/>
                <a:latin typeface="宋体" panose="02010600030101010101" pitchFamily="2" charset="-122"/>
                <a:ea typeface="宋体" panose="02010600030101010101" pitchFamily="2" charset="-122"/>
                <a:sym typeface="微软雅黑"/>
                <a:rtl val="0"/>
              </a:rPr>
              <a:t>文档、图像、音视频频等）</a:t>
            </a:r>
            <a:endParaRPr lang="zh-CN" altLang="en-US" sz="1200" dirty="0"/>
          </a:p>
        </p:txBody>
      </p:sp>
      <p:cxnSp>
        <p:nvCxnSpPr>
          <p:cNvPr id="10" name="直接箭头连接符 52">
            <a:extLst>
              <a:ext uri="{FF2B5EF4-FFF2-40B4-BE49-F238E27FC236}">
                <a16:creationId xmlns:a16="http://schemas.microsoft.com/office/drawing/2014/main" id="{C514EE20-A200-458A-80D8-F456319D179C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8853149" y="1848625"/>
            <a:ext cx="857" cy="187216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miter lim="800000"/>
            <a:headEnd type="none" w="lg" len="lg"/>
            <a:tailEnd type="stealth"/>
          </a:ln>
          <a:effectLst/>
        </p:spPr>
      </p:cxnSp>
      <p:cxnSp>
        <p:nvCxnSpPr>
          <p:cNvPr id="12" name="直接箭头连接符 52">
            <a:extLst>
              <a:ext uri="{FF2B5EF4-FFF2-40B4-BE49-F238E27FC236}">
                <a16:creationId xmlns:a16="http://schemas.microsoft.com/office/drawing/2014/main" id="{B1F44E8A-0C76-AC43-1AB1-145C5E752300}"/>
              </a:ext>
            </a:extLst>
          </p:cNvPr>
          <p:cNvCxnSpPr>
            <a:cxnSpLocks/>
          </p:cNvCxnSpPr>
          <p:nvPr/>
        </p:nvCxnSpPr>
        <p:spPr>
          <a:xfrm>
            <a:off x="10359909" y="1838784"/>
            <a:ext cx="857" cy="187216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miter lim="800000"/>
            <a:headEnd type="none" w="lg" len="lg"/>
            <a:tailEnd type="stealth"/>
          </a:ln>
          <a:effectLst/>
        </p:spPr>
      </p:cxn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标题 1"/>
          <p:cNvSpPr txBox="1"/>
          <p:nvPr/>
        </p:nvSpPr>
        <p:spPr bwMode="auto">
          <a:xfrm>
            <a:off x="157655" y="-21480"/>
            <a:ext cx="10294374" cy="580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研究内容三</a:t>
            </a:r>
            <a:r>
              <a:rPr lang="zh-CN" altLang="en-US" sz="24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：基于</a:t>
            </a:r>
            <a:r>
              <a:rPr lang="en-US" altLang="zh-CN" sz="24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AI</a:t>
            </a:r>
            <a:r>
              <a:rPr lang="zh-CN" altLang="en-US" sz="24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大模型与领域约束的本体构建方法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93370" y="568933"/>
            <a:ext cx="11605260" cy="10140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lvl="1" indent="-285750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研究问题：</a:t>
            </a:r>
            <a:r>
              <a:rPr lang="zh-CN" altLang="en-US" sz="1600" b="1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如何结合大模型知识理解能力与本体约束机制，实现领域本体概念、关系、实例的自动化构建与验证，降低人工成本和大模型幻觉影响？</a:t>
            </a:r>
            <a:endParaRPr lang="en-US" altLang="zh-CN" sz="1600" b="1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lvl="1" indent="-285750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1600" b="1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研究方法：</a:t>
            </a:r>
            <a:endParaRPr lang="en-US" altLang="zh-CN" sz="1600" b="1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lvl="1" indent="-285750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endParaRPr lang="en-US" altLang="zh-CN" sz="1600" b="1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1" indent="-285750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endParaRPr lang="en-US" altLang="zh-CN" sz="1600" b="1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1" indent="-285750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endParaRPr lang="en-US" altLang="zh-CN" sz="1600" b="1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1" indent="-285750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endParaRPr lang="en-US" altLang="zh-CN" sz="1600" b="1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1" indent="-285750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endParaRPr lang="en-US" altLang="zh-CN" sz="1600" b="1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1" indent="-285750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endParaRPr lang="en-US" altLang="zh-CN" sz="1600" b="1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Tx/>
            </a:pPr>
            <a:endParaRPr lang="en-US" altLang="zh-CN" sz="1600" b="1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1" indent="-285750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r>
              <a:rPr lang="zh-CN" altLang="en-US" sz="1600" b="1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实验验证</a:t>
            </a:r>
            <a:endParaRPr lang="en-US" altLang="zh-CN" sz="1600" b="1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93369" y="1398268"/>
            <a:ext cx="6014095" cy="5459732"/>
          </a:xfrm>
          <a:prstGeom prst="rect">
            <a:avLst/>
          </a:prstGeom>
          <a:noFill/>
          <a:ln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435412" y="1485354"/>
            <a:ext cx="5335270" cy="5245128"/>
          </a:xfrm>
          <a:prstGeom prst="rect">
            <a:avLst/>
          </a:prstGeom>
          <a:noFill/>
          <a:ln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436832AF-9310-AA2E-46D8-EA9BC32CAEF4}"/>
              </a:ext>
            </a:extLst>
          </p:cNvPr>
          <p:cNvGrpSpPr/>
          <p:nvPr/>
        </p:nvGrpSpPr>
        <p:grpSpPr>
          <a:xfrm>
            <a:off x="6984718" y="1796435"/>
            <a:ext cx="4216838" cy="4393784"/>
            <a:chOff x="6066665" y="564864"/>
            <a:chExt cx="4216838" cy="4393784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61C9726A-D2C8-62FA-EBC6-993BD223B980}"/>
                </a:ext>
              </a:extLst>
            </p:cNvPr>
            <p:cNvSpPr/>
            <p:nvPr/>
          </p:nvSpPr>
          <p:spPr>
            <a:xfrm>
              <a:off x="6991391" y="828676"/>
              <a:ext cx="2823542" cy="461665"/>
            </a:xfrm>
            <a:prstGeom prst="rect">
              <a:avLst/>
            </a:prstGeom>
            <a:solidFill>
              <a:srgbClr val="EFF6FF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rgbClr val="344C9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确定业务对象与建模范围</a:t>
              </a:r>
              <a:endParaRPr lang="en-US" altLang="zh-CN" sz="1200" b="1" dirty="0">
                <a:solidFill>
                  <a:srgbClr val="344C92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200" dirty="0">
                  <a:solidFill>
                    <a:srgbClr val="344C9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（业务目标｜核心对象｜建模边界）</a:t>
              </a:r>
              <a:endParaRPr lang="en-US" altLang="zh-CN" sz="1200" dirty="0">
                <a:solidFill>
                  <a:srgbClr val="344C92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8E123FF9-4A72-E60D-ADF6-014458FC1273}"/>
                </a:ext>
              </a:extLst>
            </p:cNvPr>
            <p:cNvSpPr/>
            <p:nvPr/>
          </p:nvSpPr>
          <p:spPr>
            <a:xfrm>
              <a:off x="6991391" y="1600201"/>
              <a:ext cx="2823542" cy="461665"/>
            </a:xfrm>
            <a:prstGeom prst="rect">
              <a:avLst/>
            </a:prstGeom>
            <a:solidFill>
              <a:srgbClr val="EFF6FF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rgbClr val="344C9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AI</a:t>
              </a:r>
              <a:r>
                <a:rPr lang="zh-CN" altLang="en-US" sz="1200" b="1" dirty="0">
                  <a:solidFill>
                    <a:srgbClr val="344C9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智能体驱动的本体建模</a:t>
              </a:r>
              <a:endParaRPr lang="en-US" altLang="zh-CN" sz="1200" b="1" dirty="0">
                <a:solidFill>
                  <a:srgbClr val="344C92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200" dirty="0">
                  <a:solidFill>
                    <a:srgbClr val="344C9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（结构生成｜概念匹配｜规则设计）</a:t>
              </a:r>
              <a:endParaRPr lang="en-US" altLang="zh-CN" sz="1200" dirty="0">
                <a:solidFill>
                  <a:srgbClr val="344C92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88532C41-9F5B-7950-4989-B1F07D3FDA3B}"/>
                </a:ext>
              </a:extLst>
            </p:cNvPr>
            <p:cNvSpPr/>
            <p:nvPr/>
          </p:nvSpPr>
          <p:spPr>
            <a:xfrm>
              <a:off x="6991391" y="2438265"/>
              <a:ext cx="2823542" cy="461665"/>
            </a:xfrm>
            <a:prstGeom prst="rect">
              <a:avLst/>
            </a:prstGeom>
            <a:solidFill>
              <a:srgbClr val="EFF6FF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rgbClr val="344C9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数据知识抽取与对象生成</a:t>
              </a:r>
              <a:endParaRPr lang="en-US" altLang="zh-CN" sz="1200" b="1" dirty="0">
                <a:solidFill>
                  <a:srgbClr val="344C92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200" dirty="0">
                  <a:solidFill>
                    <a:srgbClr val="344C9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（对象识别与统一｜属性关系提取）</a:t>
              </a:r>
              <a:endParaRPr lang="en-US" altLang="zh-CN" sz="1200" dirty="0">
                <a:solidFill>
                  <a:srgbClr val="344C92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79FB183A-249C-4E53-BE65-D4BA89FDEC2A}"/>
                </a:ext>
              </a:extLst>
            </p:cNvPr>
            <p:cNvSpPr/>
            <p:nvPr/>
          </p:nvSpPr>
          <p:spPr>
            <a:xfrm>
              <a:off x="6991391" y="3271276"/>
              <a:ext cx="2823542" cy="461665"/>
            </a:xfrm>
            <a:prstGeom prst="rect">
              <a:avLst/>
            </a:prstGeom>
            <a:solidFill>
              <a:srgbClr val="EFF6FF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rgbClr val="344C9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结果校验与专家审核</a:t>
              </a:r>
              <a:endParaRPr lang="en-US" altLang="zh-CN" sz="1200" b="1" dirty="0">
                <a:solidFill>
                  <a:srgbClr val="344C92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200" dirty="0">
                  <a:solidFill>
                    <a:srgbClr val="344C9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（结构检查｜逻辑检查｜数据源检查）</a:t>
              </a:r>
              <a:endParaRPr lang="en-US" altLang="zh-CN" sz="1200" dirty="0">
                <a:solidFill>
                  <a:srgbClr val="344C92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5BDA8588-4472-F4FE-F260-0B8D1F834DC4}"/>
                </a:ext>
              </a:extLst>
            </p:cNvPr>
            <p:cNvSpPr/>
            <p:nvPr/>
          </p:nvSpPr>
          <p:spPr>
            <a:xfrm>
              <a:off x="6991391" y="4114962"/>
              <a:ext cx="2823542" cy="461665"/>
            </a:xfrm>
            <a:prstGeom prst="rect">
              <a:avLst/>
            </a:prstGeom>
            <a:solidFill>
              <a:srgbClr val="EFF6FF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rgbClr val="344C9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本体服务与版本发布</a:t>
              </a:r>
              <a:endParaRPr lang="en-US" altLang="zh-CN" sz="1200" b="1" dirty="0">
                <a:solidFill>
                  <a:srgbClr val="344C92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200" dirty="0">
                  <a:solidFill>
                    <a:srgbClr val="344C9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（对象｜读取｜动作｜元数据）</a:t>
              </a:r>
              <a:endParaRPr lang="en-US" altLang="zh-CN" sz="1200" dirty="0">
                <a:solidFill>
                  <a:srgbClr val="344C92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33925BA7-3FDC-F7A6-3D40-C7596F1B1FAC}"/>
                </a:ext>
              </a:extLst>
            </p:cNvPr>
            <p:cNvSpPr txBox="1"/>
            <p:nvPr/>
          </p:nvSpPr>
          <p:spPr>
            <a:xfrm>
              <a:off x="8403162" y="1294329"/>
              <a:ext cx="14117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对象与字段候选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29687FB-0C5C-227A-76CA-27F99E0B0E8C}"/>
                </a:ext>
              </a:extLst>
            </p:cNvPr>
            <p:cNvSpPr txBox="1"/>
            <p:nvPr/>
          </p:nvSpPr>
          <p:spPr>
            <a:xfrm>
              <a:off x="8403161" y="2107295"/>
              <a:ext cx="16138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本体结构与处理规则</a:t>
              </a: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EABFB516-D90E-188A-E690-FF0FFBAE9892}"/>
                </a:ext>
              </a:extLst>
            </p:cNvPr>
            <p:cNvSpPr txBox="1"/>
            <p:nvPr/>
          </p:nvSpPr>
          <p:spPr>
            <a:xfrm>
              <a:off x="8403162" y="2952032"/>
              <a:ext cx="18803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标准化本体对象与元数据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003B42FF-D9E9-5B85-6956-7DEEFF0E8EA5}"/>
                </a:ext>
              </a:extLst>
            </p:cNvPr>
            <p:cNvSpPr txBox="1"/>
            <p:nvPr/>
          </p:nvSpPr>
          <p:spPr>
            <a:xfrm>
              <a:off x="8403162" y="3785452"/>
              <a:ext cx="18803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校验后的本体结构与对象</a:t>
              </a:r>
            </a:p>
          </p:txBody>
        </p:sp>
        <p:cxnSp>
          <p:nvCxnSpPr>
            <p:cNvPr id="45" name="连接符: 肘形 44">
              <a:extLst>
                <a:ext uri="{FF2B5EF4-FFF2-40B4-BE49-F238E27FC236}">
                  <a16:creationId xmlns:a16="http://schemas.microsoft.com/office/drawing/2014/main" id="{294D4C94-03D9-F08B-A8C2-9113261D74AB}"/>
                </a:ext>
              </a:extLst>
            </p:cNvPr>
            <p:cNvCxnSpPr>
              <a:stCxn id="38" idx="1"/>
              <a:endCxn id="36" idx="1"/>
            </p:cNvCxnSpPr>
            <p:nvPr/>
          </p:nvCxnSpPr>
          <p:spPr>
            <a:xfrm rot="10800000">
              <a:off x="6991391" y="1831035"/>
              <a:ext cx="12700" cy="1671075"/>
            </a:xfrm>
            <a:prstGeom prst="bentConnector3">
              <a:avLst>
                <a:gd name="adj1" fmla="val 1800000"/>
              </a:avLst>
            </a:prstGeom>
            <a:ln w="31750">
              <a:solidFill>
                <a:schemeClr val="tx1"/>
              </a:solidFill>
              <a:headEnd type="none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28CCBF8C-468B-5BA9-76F7-D495CA0C7E41}"/>
                </a:ext>
              </a:extLst>
            </p:cNvPr>
            <p:cNvCxnSpPr>
              <a:stCxn id="35" idx="2"/>
              <a:endCxn id="36" idx="0"/>
            </p:cNvCxnSpPr>
            <p:nvPr/>
          </p:nvCxnSpPr>
          <p:spPr>
            <a:xfrm>
              <a:off x="8403162" y="1290341"/>
              <a:ext cx="0" cy="30986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6AEBCCEA-59F8-19D1-7E48-0B595E3AE28E}"/>
                </a:ext>
              </a:extLst>
            </p:cNvPr>
            <p:cNvCxnSpPr>
              <a:stCxn id="36" idx="2"/>
              <a:endCxn id="37" idx="0"/>
            </p:cNvCxnSpPr>
            <p:nvPr/>
          </p:nvCxnSpPr>
          <p:spPr>
            <a:xfrm>
              <a:off x="8403162" y="2061866"/>
              <a:ext cx="0" cy="376399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0CA259DD-04C0-C882-137D-CA89F39D077F}"/>
                </a:ext>
              </a:extLst>
            </p:cNvPr>
            <p:cNvCxnSpPr>
              <a:stCxn id="37" idx="2"/>
              <a:endCxn id="38" idx="0"/>
            </p:cNvCxnSpPr>
            <p:nvPr/>
          </p:nvCxnSpPr>
          <p:spPr>
            <a:xfrm>
              <a:off x="8403162" y="2899930"/>
              <a:ext cx="0" cy="371346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29E1284B-92A6-C1FF-88C0-3028C2973BA7}"/>
                </a:ext>
              </a:extLst>
            </p:cNvPr>
            <p:cNvCxnSpPr>
              <a:stCxn id="38" idx="2"/>
              <a:endCxn id="39" idx="0"/>
            </p:cNvCxnSpPr>
            <p:nvPr/>
          </p:nvCxnSpPr>
          <p:spPr>
            <a:xfrm>
              <a:off x="8403162" y="3732941"/>
              <a:ext cx="0" cy="382021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28494161-EC0E-8CA9-3B04-ADEE2BA5AFEC}"/>
                </a:ext>
              </a:extLst>
            </p:cNvPr>
            <p:cNvSpPr txBox="1"/>
            <p:nvPr/>
          </p:nvSpPr>
          <p:spPr>
            <a:xfrm>
              <a:off x="6066665" y="2424083"/>
              <a:ext cx="9017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冲突项、</a:t>
              </a:r>
              <a:endParaRPr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sz="12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缺失项</a:t>
              </a:r>
            </a:p>
          </p:txBody>
        </p: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AA468CA6-A32C-80C8-38A5-DA0DEF849FC8}"/>
                </a:ext>
              </a:extLst>
            </p:cNvPr>
            <p:cNvCxnSpPr>
              <a:cxnSpLocks/>
              <a:endCxn id="35" idx="0"/>
            </p:cNvCxnSpPr>
            <p:nvPr/>
          </p:nvCxnSpPr>
          <p:spPr>
            <a:xfrm>
              <a:off x="8403162" y="564864"/>
              <a:ext cx="0" cy="263812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0F8B4108-E6E8-6DA6-55A1-A0AD5CFB5475}"/>
                </a:ext>
              </a:extLst>
            </p:cNvPr>
            <p:cNvCxnSpPr/>
            <p:nvPr/>
          </p:nvCxnSpPr>
          <p:spPr>
            <a:xfrm>
              <a:off x="8403162" y="4576627"/>
              <a:ext cx="0" cy="382021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49B80DCF-757C-CA73-736E-F0BFDB3A9FB2}"/>
              </a:ext>
            </a:extLst>
          </p:cNvPr>
          <p:cNvSpPr txBox="1"/>
          <p:nvPr/>
        </p:nvSpPr>
        <p:spPr>
          <a:xfrm>
            <a:off x="363939" y="1741714"/>
            <a:ext cx="5831502" cy="3116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通过</a:t>
            </a:r>
            <a:r>
              <a:rPr lang="en-US" altLang="zh-CN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大模型深度理解业务数据和规则，构建业务对象识别与建模范围界定模型，明确核心对象、关键字段与本体边界，提升本体建模准确性。</a:t>
            </a:r>
            <a:endParaRPr lang="en-US" altLang="zh-CN" sz="1400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lvl="1" indent="-285750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结合</a:t>
            </a:r>
            <a:r>
              <a:rPr lang="en-US" altLang="zh-CN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大模型思维链推理技术与业务约束规则，构建</a:t>
            </a:r>
            <a:r>
              <a:rPr lang="en-US" altLang="zh-CN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大模型驱动的本体建模模型，实现本体对象、属性、关系与约束规则的自动生成及领域概念的一致性匹配。</a:t>
            </a:r>
            <a:endParaRPr lang="en-US" altLang="zh-CN" sz="1400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利用智能体知识抽取与约束校验技术、结合专家在线审核，构建数据字段到本体结构的自动映射与校验反馈方法，实现业务对象、知识关系、来源信息的可靠生成与可追溯验证。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AC5677D-187D-F23E-D4D8-7FD5B2B010BA}"/>
              </a:ext>
            </a:extLst>
          </p:cNvPr>
          <p:cNvSpPr txBox="1"/>
          <p:nvPr/>
        </p:nvSpPr>
        <p:spPr>
          <a:xfrm>
            <a:off x="202276" y="5214442"/>
            <a:ext cx="6087261" cy="105437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sz="1400" dirty="0">
                <a:highlight>
                  <a:srgbClr val="8EC223"/>
                </a:highlight>
                <a:latin typeface="微软雅黑" panose="020B0503020204020204" charset="-122"/>
                <a:ea typeface="微软雅黑" panose="020B0503020204020204" charset="-122"/>
              </a:rPr>
              <a:t>以标准本体和知识实例作为参考，与本方案的本体构建结果进行对比。本体业务对象和属性关系的识别准确率应达到</a:t>
            </a:r>
            <a:r>
              <a:rPr lang="en-US" altLang="zh-CN" sz="1400" dirty="0">
                <a:highlight>
                  <a:srgbClr val="8EC223"/>
                </a:highlight>
                <a:latin typeface="微软雅黑" panose="020B0503020204020204" charset="-122"/>
                <a:ea typeface="微软雅黑" panose="020B0503020204020204" charset="-122"/>
              </a:rPr>
              <a:t>80%</a:t>
            </a:r>
            <a:r>
              <a:rPr lang="zh-CN" altLang="en-US" sz="1400" dirty="0">
                <a:highlight>
                  <a:srgbClr val="8EC223"/>
                </a:highlight>
                <a:latin typeface="微软雅黑" panose="020B0503020204020204" charset="-122"/>
                <a:ea typeface="微软雅黑" panose="020B0503020204020204" charset="-122"/>
              </a:rPr>
              <a:t>以上，经专家审核后正式发布内容的准确率应达到</a:t>
            </a:r>
            <a:r>
              <a:rPr lang="en-US" altLang="zh-CN" sz="1400" dirty="0">
                <a:highlight>
                  <a:srgbClr val="8EC223"/>
                </a:highlight>
                <a:latin typeface="微软雅黑" panose="020B0503020204020204" charset="-122"/>
                <a:ea typeface="微软雅黑" panose="020B0503020204020204" charset="-122"/>
              </a:rPr>
              <a:t>90%</a:t>
            </a:r>
            <a:r>
              <a:rPr lang="zh-CN" altLang="en-US" sz="1400" dirty="0">
                <a:highlight>
                  <a:srgbClr val="8EC223"/>
                </a:highlight>
                <a:latin typeface="微软雅黑" panose="020B0503020204020204" charset="-122"/>
                <a:ea typeface="微软雅黑" panose="020B0503020204020204" charset="-122"/>
              </a:rPr>
              <a:t>以上；同时，所构建知识的来源信息可追溯完整率应达到</a:t>
            </a:r>
            <a:r>
              <a:rPr lang="en-US" altLang="zh-CN" sz="1400" dirty="0">
                <a:highlight>
                  <a:srgbClr val="8EC223"/>
                </a:highlight>
                <a:latin typeface="微软雅黑" panose="020B0503020204020204" charset="-122"/>
                <a:ea typeface="微软雅黑" panose="020B0503020204020204" charset="-122"/>
              </a:rPr>
              <a:t>90%</a:t>
            </a:r>
            <a:r>
              <a:rPr lang="zh-CN" altLang="en-US" sz="1400" dirty="0">
                <a:highlight>
                  <a:srgbClr val="8EC223"/>
                </a:highlight>
                <a:latin typeface="微软雅黑" panose="020B0503020204020204" charset="-122"/>
                <a:ea typeface="微软雅黑" panose="020B0503020204020204" charset="-122"/>
              </a:rPr>
              <a:t>以上，能够定位到原始文件、数据记录或相关法规条款。</a:t>
            </a:r>
            <a:endParaRPr lang="en-US" altLang="zh-CN" sz="1400" dirty="0">
              <a:highlight>
                <a:srgbClr val="8EC223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Google Shape;158;p16">
            <a:extLst>
              <a:ext uri="{FF2B5EF4-FFF2-40B4-BE49-F238E27FC236}">
                <a16:creationId xmlns:a16="http://schemas.microsoft.com/office/drawing/2014/main" id="{9B9A647E-DD70-941E-EA43-77A34EACFAEF}"/>
              </a:ext>
            </a:extLst>
          </p:cNvPr>
          <p:cNvSpPr txBox="1"/>
          <p:nvPr/>
        </p:nvSpPr>
        <p:spPr>
          <a:xfrm>
            <a:off x="6633476" y="1573801"/>
            <a:ext cx="146494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err="1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技术流程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：</a:t>
            </a:r>
            <a:endParaRPr lang="en-US" sz="16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0B0F17B-6C4A-C660-EB9D-D155FBC6D582}"/>
              </a:ext>
            </a:extLst>
          </p:cNvPr>
          <p:cNvSpPr txBox="1"/>
          <p:nvPr/>
        </p:nvSpPr>
        <p:spPr>
          <a:xfrm>
            <a:off x="7951547" y="1495514"/>
            <a:ext cx="27750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业务需求、领域规则、规则化数据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803B9C-9388-65A0-D97B-25F409A1E2C0}"/>
              </a:ext>
            </a:extLst>
          </p:cNvPr>
          <p:cNvSpPr txBox="1"/>
          <p:nvPr/>
        </p:nvSpPr>
        <p:spPr>
          <a:xfrm>
            <a:off x="7668630" y="6177646"/>
            <a:ext cx="39561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  <a:highlight>
                  <a:srgbClr val="00FF00"/>
                </a:highlight>
                <a:latin typeface="SimSun" panose="02010600030101010101" pitchFamily="2" charset="-122"/>
                <a:ea typeface="SimSun" panose="02010600030101010101" pitchFamily="2" charset="-122"/>
              </a:rPr>
              <a:t>对象类型与属性｜业务对象｜对象关系｜动作与函数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标题 1"/>
          <p:cNvSpPr txBox="1"/>
          <p:nvPr/>
        </p:nvSpPr>
        <p:spPr bwMode="auto">
          <a:xfrm>
            <a:off x="157655" y="-21480"/>
            <a:ext cx="10294374" cy="580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研究内容四</a:t>
            </a:r>
            <a:r>
              <a:rPr lang="zh-CN" altLang="en-US" sz="24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基于执行反馈的本体评估与智能演进方法</a:t>
            </a:r>
          </a:p>
        </p:txBody>
      </p:sp>
      <p:sp>
        <p:nvSpPr>
          <p:cNvPr id="6" name="矩形 5"/>
          <p:cNvSpPr/>
          <p:nvPr/>
        </p:nvSpPr>
        <p:spPr>
          <a:xfrm>
            <a:off x="293370" y="660400"/>
            <a:ext cx="11605260" cy="10140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lvl="1" indent="-285750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研究问题：</a:t>
            </a:r>
            <a:r>
              <a:rPr lang="zh-CN" altLang="en-US" sz="1600" b="1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如何建立基于执行反馈评价的闭环演进机制，实现本体驱动智能系统自动发现问题、方案优化与演进更新？</a:t>
            </a:r>
            <a:endParaRPr lang="en-US" altLang="zh-CN" sz="1600" b="1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lvl="1" indent="-285750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1600" b="1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研究方法：</a:t>
            </a:r>
            <a:endParaRPr lang="zh-CN" altLang="en-US" sz="1600" kern="1200" noProof="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285750" lvl="1" indent="-285750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endParaRPr lang="en-US" altLang="zh-CN" sz="1600" b="1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1" indent="-285750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endParaRPr lang="en-US" altLang="zh-CN" sz="1600" b="1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1" indent="-285750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endParaRPr lang="en-US" altLang="zh-CN" sz="1600" b="1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1" indent="-285750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endParaRPr lang="en-US" altLang="zh-CN" sz="1600" b="1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1" indent="-285750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endParaRPr lang="en-US" altLang="zh-CN" sz="1600" b="1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1" indent="-285750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endParaRPr lang="en-US" altLang="zh-CN" sz="1600" b="1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Tx/>
            </a:pPr>
            <a:endParaRPr lang="en-US" altLang="zh-CN" sz="1600" b="1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1" indent="-285750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r>
              <a:rPr lang="zh-CN" altLang="en-US" sz="1600" b="1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实验验证</a:t>
            </a:r>
            <a:endParaRPr lang="en-US" altLang="zh-CN" sz="1600" b="1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93370" y="1164752"/>
            <a:ext cx="6023610" cy="5483457"/>
          </a:xfrm>
          <a:prstGeom prst="rect">
            <a:avLst/>
          </a:prstGeom>
          <a:noFill/>
          <a:ln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46520" y="1165384"/>
            <a:ext cx="5335270" cy="5482160"/>
          </a:xfrm>
          <a:prstGeom prst="rect">
            <a:avLst/>
          </a:prstGeom>
          <a:noFill/>
          <a:ln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31E1C06-1F53-4168-6A5B-C001EF5D7B43}"/>
              </a:ext>
            </a:extLst>
          </p:cNvPr>
          <p:cNvGrpSpPr/>
          <p:nvPr/>
        </p:nvGrpSpPr>
        <p:grpSpPr>
          <a:xfrm>
            <a:off x="6685600" y="1676040"/>
            <a:ext cx="4460228" cy="4839530"/>
            <a:chOff x="3729523" y="1288195"/>
            <a:chExt cx="4460228" cy="4839530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B162D22D-771B-A98A-C588-87995792DC54}"/>
                </a:ext>
              </a:extLst>
            </p:cNvPr>
            <p:cNvGrpSpPr/>
            <p:nvPr/>
          </p:nvGrpSpPr>
          <p:grpSpPr>
            <a:xfrm>
              <a:off x="3729523" y="1288195"/>
              <a:ext cx="4460228" cy="4393784"/>
              <a:chOff x="5823275" y="564864"/>
              <a:chExt cx="4460228" cy="4393784"/>
            </a:xfrm>
          </p:grpSpPr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88FEA238-D323-E29A-1A5D-CC8F592DAC0D}"/>
                  </a:ext>
                </a:extLst>
              </p:cNvPr>
              <p:cNvSpPr/>
              <p:nvPr/>
            </p:nvSpPr>
            <p:spPr>
              <a:xfrm>
                <a:off x="6991391" y="828676"/>
                <a:ext cx="2823542" cy="461665"/>
              </a:xfrm>
              <a:prstGeom prst="rect">
                <a:avLst/>
              </a:prstGeom>
              <a:solidFill>
                <a:srgbClr val="EFF6FF"/>
              </a:solidFill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b="1" dirty="0">
                    <a:solidFill>
                      <a:srgbClr val="344C9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运行记录与反馈收集</a:t>
                </a:r>
                <a:endParaRPr lang="en-US" altLang="zh-CN" sz="1200" b="1" dirty="0">
                  <a:solidFill>
                    <a:srgbClr val="344C92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ctr"/>
                <a:r>
                  <a:rPr lang="zh-CN" altLang="en-US" sz="1200" dirty="0">
                    <a:solidFill>
                      <a:srgbClr val="344C9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（任务过程｜执行结果｜人工评价）</a:t>
                </a:r>
                <a:endParaRPr lang="en-US" altLang="zh-CN" sz="1200" dirty="0">
                  <a:solidFill>
                    <a:srgbClr val="344C92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7A4F3183-003B-E163-AE02-7CAA9FC39493}"/>
                  </a:ext>
                </a:extLst>
              </p:cNvPr>
              <p:cNvSpPr/>
              <p:nvPr/>
            </p:nvSpPr>
            <p:spPr>
              <a:xfrm>
                <a:off x="6991391" y="1600201"/>
                <a:ext cx="2823542" cy="461665"/>
              </a:xfrm>
              <a:prstGeom prst="rect">
                <a:avLst/>
              </a:prstGeom>
              <a:solidFill>
                <a:srgbClr val="EFF6FF"/>
              </a:solidFill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b="1" dirty="0">
                    <a:solidFill>
                      <a:srgbClr val="344C9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评估分析</a:t>
                </a:r>
                <a:endParaRPr lang="en-US" altLang="zh-CN" sz="1200" b="1" dirty="0">
                  <a:solidFill>
                    <a:srgbClr val="344C92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ctr"/>
                <a:r>
                  <a:rPr lang="zh-CN" altLang="en-US" sz="1200" dirty="0">
                    <a:solidFill>
                      <a:srgbClr val="344C9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（本体质量｜执行效果｜问题定位）</a:t>
                </a:r>
                <a:endParaRPr lang="en-US" altLang="zh-CN" sz="1200" dirty="0">
                  <a:solidFill>
                    <a:srgbClr val="344C92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7CD3672C-4310-3D57-0209-D3D58ECC51C6}"/>
                  </a:ext>
                </a:extLst>
              </p:cNvPr>
              <p:cNvSpPr/>
              <p:nvPr/>
            </p:nvSpPr>
            <p:spPr>
              <a:xfrm>
                <a:off x="6991391" y="2438265"/>
                <a:ext cx="2823542" cy="461665"/>
              </a:xfrm>
              <a:prstGeom prst="rect">
                <a:avLst/>
              </a:prstGeom>
              <a:solidFill>
                <a:srgbClr val="EFF6FF"/>
              </a:solidFill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b="1" dirty="0">
                    <a:solidFill>
                      <a:srgbClr val="344C9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优化方案生成</a:t>
                </a:r>
                <a:endParaRPr lang="en-US" altLang="zh-CN" sz="1200" b="1" dirty="0">
                  <a:solidFill>
                    <a:srgbClr val="344C92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ctr"/>
                <a:r>
                  <a:rPr lang="zh-CN" altLang="en-US" sz="1200" dirty="0">
                    <a:solidFill>
                      <a:srgbClr val="344C9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（提示优化｜工具调整｜规则补充）</a:t>
                </a:r>
                <a:endParaRPr lang="en-US" altLang="zh-CN" sz="1200" dirty="0">
                  <a:solidFill>
                    <a:srgbClr val="344C92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5908D5D1-6227-534E-1EBF-7E2C648BE5F5}"/>
                  </a:ext>
                </a:extLst>
              </p:cNvPr>
              <p:cNvSpPr/>
              <p:nvPr/>
            </p:nvSpPr>
            <p:spPr>
              <a:xfrm>
                <a:off x="6991391" y="3271276"/>
                <a:ext cx="2823542" cy="461665"/>
              </a:xfrm>
              <a:prstGeom prst="rect">
                <a:avLst/>
              </a:prstGeom>
              <a:solidFill>
                <a:srgbClr val="EFF6FF"/>
              </a:solidFill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b="1" dirty="0">
                    <a:solidFill>
                      <a:srgbClr val="344C9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回归验证与人工审核</a:t>
                </a:r>
                <a:endParaRPr lang="en-US" altLang="zh-CN" sz="1200" b="1" dirty="0">
                  <a:solidFill>
                    <a:srgbClr val="344C92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ctr"/>
                <a:r>
                  <a:rPr lang="zh-CN" altLang="en-US" sz="1200" dirty="0">
                    <a:solidFill>
                      <a:srgbClr val="344C9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（样本测试｜风险评估）</a:t>
                </a:r>
                <a:endParaRPr lang="en-US" altLang="zh-CN" sz="1200" dirty="0">
                  <a:solidFill>
                    <a:srgbClr val="344C92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049E2D83-564E-A82D-AEAB-4D605C26E030}"/>
                  </a:ext>
                </a:extLst>
              </p:cNvPr>
              <p:cNvSpPr/>
              <p:nvPr/>
            </p:nvSpPr>
            <p:spPr>
              <a:xfrm>
                <a:off x="6991391" y="4114962"/>
                <a:ext cx="2823542" cy="461665"/>
              </a:xfrm>
              <a:prstGeom prst="rect">
                <a:avLst/>
              </a:prstGeom>
              <a:solidFill>
                <a:srgbClr val="EFF6FF"/>
              </a:solidFill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b="1" dirty="0">
                    <a:solidFill>
                      <a:srgbClr val="344C9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更新版本发布</a:t>
                </a:r>
                <a:endParaRPr lang="en-US" altLang="zh-CN" sz="1200" b="1" dirty="0">
                  <a:solidFill>
                    <a:srgbClr val="344C92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ctr"/>
                <a:r>
                  <a:rPr lang="zh-CN" altLang="en-US" sz="1200" dirty="0">
                    <a:solidFill>
                      <a:srgbClr val="344C9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（分级更新｜变更记录）</a:t>
                </a:r>
                <a:endParaRPr lang="en-US" altLang="zh-CN" sz="1200" dirty="0">
                  <a:solidFill>
                    <a:srgbClr val="344C92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6D3F039-E1D5-7AB0-87EC-1EEE24AFB0F7}"/>
                  </a:ext>
                </a:extLst>
              </p:cNvPr>
              <p:cNvSpPr txBox="1"/>
              <p:nvPr/>
            </p:nvSpPr>
            <p:spPr>
              <a:xfrm>
                <a:off x="8403162" y="1294329"/>
                <a:ext cx="141177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反馈记录</a:t>
                </a: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CCB2F58-4B0B-622D-8174-D653788D9F26}"/>
                  </a:ext>
                </a:extLst>
              </p:cNvPr>
              <p:cNvSpPr txBox="1"/>
              <p:nvPr/>
            </p:nvSpPr>
            <p:spPr>
              <a:xfrm>
                <a:off x="8389489" y="2108755"/>
                <a:ext cx="161386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问题类型与改进依据</a:t>
                </a: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F9249B34-CACA-0C8D-21F3-0E6046318CDB}"/>
                  </a:ext>
                </a:extLst>
              </p:cNvPr>
              <p:cNvSpPr txBox="1"/>
              <p:nvPr/>
            </p:nvSpPr>
            <p:spPr>
              <a:xfrm>
                <a:off x="8403163" y="2933560"/>
                <a:ext cx="11965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候选优化方案</a:t>
                </a: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A83D2069-1D48-69D5-E469-FCCDBEBE25F1}"/>
                  </a:ext>
                </a:extLst>
              </p:cNvPr>
              <p:cNvSpPr txBox="1"/>
              <p:nvPr/>
            </p:nvSpPr>
            <p:spPr>
              <a:xfrm>
                <a:off x="8403162" y="3785452"/>
                <a:ext cx="188034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验证通过的更新内容</a:t>
                </a:r>
              </a:p>
            </p:txBody>
          </p:sp>
          <p:cxnSp>
            <p:nvCxnSpPr>
              <p:cNvPr id="31" name="连接符: 肘形 30">
                <a:extLst>
                  <a:ext uri="{FF2B5EF4-FFF2-40B4-BE49-F238E27FC236}">
                    <a16:creationId xmlns:a16="http://schemas.microsoft.com/office/drawing/2014/main" id="{0F20DA67-8B56-93CE-09D7-8AF793C97F01}"/>
                  </a:ext>
                </a:extLst>
              </p:cNvPr>
              <p:cNvCxnSpPr>
                <a:cxnSpLocks/>
                <a:stCxn id="24" idx="1"/>
                <a:endCxn id="23" idx="1"/>
              </p:cNvCxnSpPr>
              <p:nvPr/>
            </p:nvCxnSpPr>
            <p:spPr>
              <a:xfrm rot="10800000">
                <a:off x="6991391" y="2669099"/>
                <a:ext cx="12700" cy="833011"/>
              </a:xfrm>
              <a:prstGeom prst="bentConnector3">
                <a:avLst>
                  <a:gd name="adj1" fmla="val 1800000"/>
                </a:avLst>
              </a:prstGeom>
              <a:ln w="31750">
                <a:solidFill>
                  <a:schemeClr val="tx1"/>
                </a:solidFill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5E73BCFD-8196-C5B6-8931-A674A1EF2D8C}"/>
                  </a:ext>
                </a:extLst>
              </p:cNvPr>
              <p:cNvCxnSpPr>
                <a:stCxn id="21" idx="2"/>
                <a:endCxn id="22" idx="0"/>
              </p:cNvCxnSpPr>
              <p:nvPr/>
            </p:nvCxnSpPr>
            <p:spPr>
              <a:xfrm>
                <a:off x="8403162" y="1290341"/>
                <a:ext cx="0" cy="30986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箭头连接符 32">
                <a:extLst>
                  <a:ext uri="{FF2B5EF4-FFF2-40B4-BE49-F238E27FC236}">
                    <a16:creationId xmlns:a16="http://schemas.microsoft.com/office/drawing/2014/main" id="{A5C5A8EC-6AA6-37E7-5D1B-AD58A5D86166}"/>
                  </a:ext>
                </a:extLst>
              </p:cNvPr>
              <p:cNvCxnSpPr>
                <a:stCxn id="22" idx="2"/>
                <a:endCxn id="23" idx="0"/>
              </p:cNvCxnSpPr>
              <p:nvPr/>
            </p:nvCxnSpPr>
            <p:spPr>
              <a:xfrm>
                <a:off x="8403162" y="2061866"/>
                <a:ext cx="0" cy="376399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EB0F3658-9391-BF50-A30F-62FB9C1D57C6}"/>
                  </a:ext>
                </a:extLst>
              </p:cNvPr>
              <p:cNvCxnSpPr>
                <a:stCxn id="23" idx="2"/>
                <a:endCxn id="24" idx="0"/>
              </p:cNvCxnSpPr>
              <p:nvPr/>
            </p:nvCxnSpPr>
            <p:spPr>
              <a:xfrm>
                <a:off x="8403162" y="2899930"/>
                <a:ext cx="0" cy="371346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箭头连接符 34">
                <a:extLst>
                  <a:ext uri="{FF2B5EF4-FFF2-40B4-BE49-F238E27FC236}">
                    <a16:creationId xmlns:a16="http://schemas.microsoft.com/office/drawing/2014/main" id="{813CB881-1176-A7CE-F376-27B51F488824}"/>
                  </a:ext>
                </a:extLst>
              </p:cNvPr>
              <p:cNvCxnSpPr>
                <a:stCxn id="24" idx="2"/>
                <a:endCxn id="25" idx="0"/>
              </p:cNvCxnSpPr>
              <p:nvPr/>
            </p:nvCxnSpPr>
            <p:spPr>
              <a:xfrm>
                <a:off x="8403162" y="3732941"/>
                <a:ext cx="0" cy="382021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BF61C9EA-B0CC-7F2B-3718-9A7E145D9DB3}"/>
                  </a:ext>
                </a:extLst>
              </p:cNvPr>
              <p:cNvSpPr txBox="1"/>
              <p:nvPr/>
            </p:nvSpPr>
            <p:spPr>
              <a:xfrm>
                <a:off x="5823275" y="2841226"/>
                <a:ext cx="9659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未通过验证的优化方案</a:t>
                </a:r>
              </a:p>
            </p:txBody>
          </p: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BB0DD139-C5C7-36D6-6012-3D49403514F9}"/>
                  </a:ext>
                </a:extLst>
              </p:cNvPr>
              <p:cNvCxnSpPr>
                <a:cxnSpLocks/>
                <a:endCxn id="21" idx="0"/>
              </p:cNvCxnSpPr>
              <p:nvPr/>
            </p:nvCxnSpPr>
            <p:spPr>
              <a:xfrm>
                <a:off x="8403162" y="564864"/>
                <a:ext cx="0" cy="263812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>
                <a:extLst>
                  <a:ext uri="{FF2B5EF4-FFF2-40B4-BE49-F238E27FC236}">
                    <a16:creationId xmlns:a16="http://schemas.microsoft.com/office/drawing/2014/main" id="{27DD5292-F016-30BA-449A-3C4DB4F407A3}"/>
                  </a:ext>
                </a:extLst>
              </p:cNvPr>
              <p:cNvCxnSpPr/>
              <p:nvPr/>
            </p:nvCxnSpPr>
            <p:spPr>
              <a:xfrm>
                <a:off x="7638888" y="4576627"/>
                <a:ext cx="0" cy="382021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4667152D-ED19-8DC3-12C9-B29CCCAF51D6}"/>
                </a:ext>
              </a:extLst>
            </p:cNvPr>
            <p:cNvCxnSpPr/>
            <p:nvPr/>
          </p:nvCxnSpPr>
          <p:spPr>
            <a:xfrm>
              <a:off x="7114291" y="5313030"/>
              <a:ext cx="0" cy="382021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838BCF04-B50C-2382-D88D-0F2B180F0E41}"/>
                </a:ext>
              </a:extLst>
            </p:cNvPr>
            <p:cNvSpPr txBox="1"/>
            <p:nvPr/>
          </p:nvSpPr>
          <p:spPr>
            <a:xfrm>
              <a:off x="5137811" y="5651996"/>
              <a:ext cx="10100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n/>
                  <a:latin typeface="宋体" panose="02010600030101010101" pitchFamily="2" charset="-122"/>
                  <a:ea typeface="宋体" panose="02010600030101010101" pitchFamily="2" charset="-122"/>
                  <a:sym typeface="微软雅黑"/>
                  <a:rtl val="0"/>
                </a:rPr>
                <a:t>任务方案与工具更新</a:t>
              </a:r>
              <a:endParaRPr lang="zh-CN" altLang="en-US" sz="1200" b="1" spc="0" baseline="0" dirty="0">
                <a:ln/>
                <a:latin typeface="宋体" panose="02010600030101010101" pitchFamily="2" charset="-122"/>
                <a:ea typeface="宋体" panose="02010600030101010101" pitchFamily="2" charset="-122"/>
                <a:sym typeface="微软雅黑"/>
                <a:rtl val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80C2595-AA62-E18E-7CED-8650883755A1}"/>
                </a:ext>
              </a:extLst>
            </p:cNvPr>
            <p:cNvSpPr txBox="1"/>
            <p:nvPr/>
          </p:nvSpPr>
          <p:spPr>
            <a:xfrm>
              <a:off x="6571807" y="5666060"/>
              <a:ext cx="13628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n/>
                  <a:latin typeface="宋体" panose="02010600030101010101" pitchFamily="2" charset="-122"/>
                  <a:ea typeface="宋体" panose="02010600030101010101" pitchFamily="2" charset="-122"/>
                  <a:sym typeface="微软雅黑"/>
                  <a:rtl val="0"/>
                </a:rPr>
                <a:t>规则、知识与本体元数据更新</a:t>
              </a:r>
              <a:endParaRPr lang="zh-CN" altLang="en-US" sz="1200" b="1" spc="0" baseline="0" dirty="0">
                <a:ln/>
                <a:latin typeface="宋体" panose="02010600030101010101" pitchFamily="2" charset="-122"/>
                <a:ea typeface="宋体" panose="02010600030101010101" pitchFamily="2" charset="-122"/>
                <a:sym typeface="微软雅黑"/>
                <a:rtl val="0"/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35FD6A0A-AD02-F9B5-9F3D-E3AE05372953}"/>
              </a:ext>
            </a:extLst>
          </p:cNvPr>
          <p:cNvSpPr txBox="1"/>
          <p:nvPr/>
        </p:nvSpPr>
        <p:spPr>
          <a:xfrm>
            <a:off x="410210" y="1617062"/>
            <a:ext cx="5685790" cy="2470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结合全链路运行日志与反馈结果，构建任务、数据、工具、规则、版本五要素联动的反馈汇集机制，实现问题的快速定位。</a:t>
            </a:r>
            <a:endParaRPr lang="en-US" altLang="zh-CN" sz="1400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lvl="1" indent="-285750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构建覆盖本体质量、智能体执行效果与业务任务结果的综合评估模型，实现问题分类识别与优化方案（如提示优化、工具调整、规则补充）的自动生成。</a:t>
            </a:r>
            <a:endParaRPr lang="en-US" altLang="zh-CN" sz="1400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lvl="1" indent="-285750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结合样本回归测试技术，</a:t>
            </a:r>
            <a:r>
              <a:rPr lang="zh-CN" altLang="en-US" sz="14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建立回归验证与版本管理机制</a:t>
            </a: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sz="14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实现工具、规则、知识与本体内容的迭代更新与业务自适应。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AAF2ED3-193B-3B6F-0A8F-4D154E21446E}"/>
              </a:ext>
            </a:extLst>
          </p:cNvPr>
          <p:cNvSpPr txBox="1"/>
          <p:nvPr/>
        </p:nvSpPr>
        <p:spPr>
          <a:xfrm>
            <a:off x="382461" y="4971354"/>
            <a:ext cx="5930573" cy="108255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400" dirty="0">
                <a:highlight>
                  <a:srgbClr val="8EC223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针对工具选择错误、任务规划错误和业务执行失败等异常情况，测试系统对异常问题的识别和处理能力。异常问题识别准确率应达到</a:t>
            </a:r>
            <a:r>
              <a:rPr lang="en-US" altLang="zh-CN" sz="1400" dirty="0">
                <a:highlight>
                  <a:srgbClr val="8EC223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80%</a:t>
            </a:r>
            <a:r>
              <a:rPr lang="zh-CN" altLang="en-US" sz="1400" dirty="0">
                <a:highlight>
                  <a:srgbClr val="8EC223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以上；在启用执行反馈和系统演进机制后，典型业务任务完成率较演进前提升</a:t>
            </a:r>
            <a:r>
              <a:rPr lang="en-US" altLang="zh-CN" sz="1400" dirty="0">
                <a:highlight>
                  <a:srgbClr val="8EC223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1400" dirty="0">
                <a:highlight>
                  <a:srgbClr val="8EC223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个百分点以上，用于验证系统具备基本的问题发现、方案调整和持续优化能力。</a:t>
            </a:r>
            <a:endParaRPr lang="en-US" altLang="zh-CN" sz="1400" dirty="0">
              <a:highlight>
                <a:srgbClr val="8EC223"/>
              </a:highlight>
            </a:endParaRPr>
          </a:p>
        </p:txBody>
      </p:sp>
      <p:sp>
        <p:nvSpPr>
          <p:cNvPr id="43" name="Google Shape;158;p16">
            <a:extLst>
              <a:ext uri="{FF2B5EF4-FFF2-40B4-BE49-F238E27FC236}">
                <a16:creationId xmlns:a16="http://schemas.microsoft.com/office/drawing/2014/main" id="{09A27B3F-C84C-5ED2-2C69-D0897D0F699D}"/>
              </a:ext>
            </a:extLst>
          </p:cNvPr>
          <p:cNvSpPr txBox="1"/>
          <p:nvPr/>
        </p:nvSpPr>
        <p:spPr>
          <a:xfrm>
            <a:off x="6615770" y="1289318"/>
            <a:ext cx="146494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p"/>
            </a:pPr>
            <a:r>
              <a:rPr lang="en-US" sz="1600" b="1" dirty="0" err="1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技术流程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：</a:t>
            </a:r>
            <a:endParaRPr lang="en-US" sz="16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412C2FA-E34B-7EBA-D2F3-A63B9E0DF049}"/>
              </a:ext>
            </a:extLst>
          </p:cNvPr>
          <p:cNvSpPr txBox="1"/>
          <p:nvPr/>
        </p:nvSpPr>
        <p:spPr>
          <a:xfrm>
            <a:off x="8187395" y="1382474"/>
            <a:ext cx="22746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任务执行结果｜人工审核结果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2551</Words>
  <Application>Microsoft Office PowerPoint</Application>
  <PresentationFormat>宽屏</PresentationFormat>
  <Paragraphs>184</Paragraphs>
  <Slides>5</Slides>
  <Notes>5</Notes>
  <HiddenSlides>1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等线</vt:lpstr>
      <vt:lpstr>等线 Light</vt:lpstr>
      <vt:lpstr>宋体</vt:lpstr>
      <vt:lpstr>宋体</vt:lpstr>
      <vt:lpstr>微软雅黑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Weiwen Yuan (SSE, 223010145)</dc:creator>
  <cp:lastModifiedBy>Weiwen Yuan (SSE, 223010145)</cp:lastModifiedBy>
  <cp:revision>1</cp:revision>
  <dcterms:created xsi:type="dcterms:W3CDTF">2026-09-01T11:15:20Z</dcterms:created>
  <dcterms:modified xsi:type="dcterms:W3CDTF">2026-09-01T11:15:59Z</dcterms:modified>
</cp:coreProperties>
</file>